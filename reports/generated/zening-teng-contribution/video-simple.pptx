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EE9A3-C3BD-4C97-9A6E-3DD1CA4C2BB6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0A63F-65B6-499D-9DEE-CABDC5BF99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063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Hi, I'm Zening Teng. I built two checks for The Reallocation Engine. The ATS paste-test checks whether a PDF exposes readable text. The gate harness checks that liveness and timeline remain hard stops. These tools verify software behavior. They do not make the final application decision.</a:t>
            </a:r>
            <a:endParaRPr lang="zh-CN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0A63F-65B6-499D-9DEE-CABDC5BF99A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338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In this project, Skip is not a failed run. It is the correct result when a hard gate is zero. If liveness is zero, the result must be Skip. If timeline is zero, the result must also be Skip. I deliberately ran two bad-code cases that returned Apply, and the harness caught both wrong results. Two out of two is a controlled test result, not a real job score. The tools still cannot prove every commercial ATS, current job liveness, my legal timeline, or the final application decision.</a:t>
            </a:r>
            <a:endParaRPr lang="zh-CN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10A63F-65B6-499D-9DEE-CABDC5BF99A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978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5A08D1-06DF-00F4-1D9E-4018D872B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BBD3ACD-9921-EB2C-2EC5-BDA9ACE30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CN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A52FD7-6F84-1BC5-9A69-26065C51A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DA20-DA7C-4287-9DDA-E2758652B1FC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93456F-9625-AB97-9A8E-631D1D211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FF52F9-9719-BF4F-50B6-89A64F839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2E78-DF88-4733-9F31-AFBB1A3E69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877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40DBA4-4D09-9E71-4005-09C93CF0E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826CD0-9FF8-DAED-501C-ABF8A7DAE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B3FE26-36F6-DC48-7EF3-D0221059C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DA20-DA7C-4287-9DDA-E2758652B1FC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AA5F96-9811-D8C0-50AF-5A1A6199A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E91C2C-A147-9B1F-0C31-9334CF7D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2E78-DF88-4733-9F31-AFBB1A3E69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920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5790F4-DA30-8845-87C5-F2FB58E59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C570F2C-C687-AB40-700F-ADB901643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DDB51F-1CD8-0184-AA1B-752148FF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DA20-DA7C-4287-9DDA-E2758652B1FC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0608DB-D492-FE93-A20D-C6C919217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5DB605-103F-2A9E-5406-64CEC052B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2E78-DF88-4733-9F31-AFBB1A3E69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137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8CAC58-B42E-09ED-BD6C-93A172D68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3158D4-CDB2-C5A2-2AE7-2BAF6DF7E9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55D34AD-D916-031B-CFD9-F722AD3F6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0FE906E-7196-5FF3-D5BC-9CFEA20D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DA20-DA7C-4287-9DDA-E2758652B1FC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F6DF80B-3BEE-BF49-E851-65E5FCB6C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0BE729-F7D7-A0E9-15C5-42497507C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2E78-DF88-4733-9F31-AFBB1A3E69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217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7F2873-9208-900E-E68D-6504060E4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52C1F12-867B-C9D5-63AA-E1840293A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033B85B-D748-F617-306B-2261D994F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9F590AE-F2E3-179F-FECA-F7B827C32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C8B2704-473E-E9E6-78BD-DE8BFD1286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7F06FB1-160D-417A-A0C6-90C00206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DA20-DA7C-4287-9DDA-E2758652B1FC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5570B59-44AE-0F87-5D0D-53C123BFE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259EF42-D2BC-15A4-F4EA-464FBD247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2E78-DF88-4733-9F31-AFBB1A3E69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163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49FF91-49DA-6CCE-223D-A0E080E34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2EC4220-1024-BDF1-EA5C-15D0DBDBC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DA20-DA7C-4287-9DDA-E2758652B1FC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28FF02D-EFC4-98A9-EFF3-0A46667DB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C34601C-9705-CA10-06A3-37D36A215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2E78-DF88-4733-9F31-AFBB1A3E69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634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7F89320-3855-91A6-B6F1-BB6EE376C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DA20-DA7C-4287-9DDA-E2758652B1FC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C57B58E-EB23-2F1E-EEA1-D883D8D7C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C1DF51-9DF4-DE4D-4175-E0C6E1F91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2E78-DF88-4733-9F31-AFBB1A3E69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646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103A61-B277-9596-9A81-5CDCC2A13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3FFF1C-264F-D499-C97E-39C178188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929BB7E-7EF7-782A-35E9-64B11C2FE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89505F-46CD-B93D-9D48-BC838B13A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DA20-DA7C-4287-9DDA-E2758652B1FC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F074F59-4E76-31B8-0632-1C61F61A7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817B083-8991-FE3A-5928-6607B6623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2E78-DF88-4733-9F31-AFBB1A3E69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014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92830F-73D3-5FC9-FB36-BFFE005D8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7F5A9D1-3B6C-FE70-CA30-2EF709FE0B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E967FEC-0BBF-F2DA-9CA6-27A50260F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61D928B-7418-6469-6B3D-54810FBE9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DA20-DA7C-4287-9DDA-E2758652B1FC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F98877-3235-5C22-C451-09F0DEC0C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0CE1325-07AF-9C54-6BA9-8CD72E033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2E78-DF88-4733-9F31-AFBB1A3E69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422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459817-1EC8-4305-90C0-8F38F28B5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8075D83-9AE6-105B-FC27-F1F58B3F1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9B8031-EE92-2EFF-AE54-CDADE97B6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DA20-DA7C-4287-9DDA-E2758652B1FC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C7D098-BEB7-B7EE-EE23-824FB4C19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1955B90-13E5-C3B6-7217-2E7196B03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2E78-DF88-4733-9F31-AFBB1A3E69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084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CD5ECBB-CC4C-B854-927A-BA9AD7CC63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DE640AF-02CD-470C-14CA-1E571808D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B60462-EF16-EB0D-9ED1-88F7D6C4C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FDA20-DA7C-4287-9DDA-E2758652B1FC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7F4AF5D-448C-D7FE-4CFE-E44641A9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CDBD78-E514-6FDD-D169-33B2B8DCE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82E78-DF88-4733-9F31-AFBB1A3E69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395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888ED2F-70C6-1D3A-4B7D-03FEB33E4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CN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142DDA-0540-3714-8F04-CDBC09879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CN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CB74FF-851F-0137-CC30-3AD50C0A8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FDA20-DA7C-4287-9DDA-E2758652B1FC}" type="datetimeFigureOut">
              <a:rPr lang="zh-CN" altLang="en-US" smtClean="0"/>
              <a:t>2026/8/16</a:t>
            </a:fld>
            <a:endParaRPr lang="zh-CN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F327A7-B959-AD74-B334-CBE94B7E86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013568-8FB5-03D5-0752-BAE4C0FD5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982E78-DF88-4733-9F31-AFBB1A3E69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260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3F3CE074-8B92-9D89-52C4-3DF843A11D2E}"/>
              </a:ext>
            </a:extLst>
          </p:cNvPr>
          <p:cNvSpPr txBox="1"/>
          <p:nvPr/>
        </p:nvSpPr>
        <p:spPr>
          <a:xfrm>
            <a:off x="5334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545454"/>
                </a:solidFill>
                <a:latin typeface="Inter"/>
              </a:rPr>
              <a:t>CAPSTONE CONTRIBUTION</a:t>
            </a:r>
            <a:endParaRPr lang="zh-CN" altLang="en-US" sz="1200" b="1">
              <a:solidFill>
                <a:srgbClr val="545454"/>
              </a:solidFill>
              <a:latin typeface="Inter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B301474-DF88-30A4-4CFB-F868F0BDC209}"/>
              </a:ext>
            </a:extLst>
          </p:cNvPr>
          <p:cNvSpPr txBox="1"/>
          <p:nvPr/>
        </p:nvSpPr>
        <p:spPr>
          <a:xfrm>
            <a:off x="10998200" y="64135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545454"/>
                </a:solidFill>
                <a:latin typeface="JetBrains Mono"/>
              </a:rPr>
              <a:t>01</a:t>
            </a:r>
            <a:endParaRPr lang="zh-CN" altLang="en-US" sz="1100">
              <a:solidFill>
                <a:srgbClr val="545454"/>
              </a:solidFill>
              <a:latin typeface="JetBrains Mono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D2595477-78AD-9E5E-1716-38FB55A5CE93}"/>
              </a:ext>
            </a:extLst>
          </p:cNvPr>
          <p:cNvCxnSpPr/>
          <p:nvPr/>
        </p:nvCxnSpPr>
        <p:spPr>
          <a:xfrm>
            <a:off x="533400" y="6299200"/>
            <a:ext cx="11125200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907672E2-7341-3FC6-7FE3-ED6890E43218}"/>
              </a:ext>
            </a:extLst>
          </p:cNvPr>
          <p:cNvSpPr txBox="1"/>
          <p:nvPr/>
        </p:nvSpPr>
        <p:spPr>
          <a:xfrm>
            <a:off x="533400" y="7239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200">
                <a:solidFill>
                  <a:srgbClr val="2A1A0E"/>
                </a:solidFill>
                <a:latin typeface="EB Garamond" panose="00000500000000000000" pitchFamily="2" charset="0"/>
              </a:rPr>
              <a:t>I built two checks</a:t>
            </a:r>
            <a:endParaRPr lang="zh-CN" altLang="en-US" sz="4200">
              <a:solidFill>
                <a:srgbClr val="2A1A0E"/>
              </a:solidFill>
              <a:latin typeface="EB Garamond" panose="00000500000000000000" pitchFamily="2" charset="0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D5B4F745-8C32-CBDE-98F6-60CA78ED5686}"/>
              </a:ext>
            </a:extLst>
          </p:cNvPr>
          <p:cNvCxnSpPr/>
          <p:nvPr/>
        </p:nvCxnSpPr>
        <p:spPr>
          <a:xfrm>
            <a:off x="533400" y="1574800"/>
            <a:ext cx="1219200" cy="0"/>
          </a:xfrm>
          <a:prstGeom prst="line">
            <a:avLst/>
          </a:prstGeom>
          <a:ln w="508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553BB61C-A476-0D62-1EF4-66307D96958F}"/>
              </a:ext>
            </a:extLst>
          </p:cNvPr>
          <p:cNvSpPr txBox="1"/>
          <p:nvPr/>
        </p:nvSpPr>
        <p:spPr>
          <a:xfrm>
            <a:off x="533400" y="17907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2100" dirty="0">
                <a:solidFill>
                  <a:srgbClr val="545454"/>
                </a:solidFill>
                <a:latin typeface="Inter"/>
              </a:rPr>
              <a:t>Read the PDF. A correct skip is success.</a:t>
            </a:r>
            <a:endParaRPr lang="zh-CN" altLang="en-US" sz="2100" dirty="0">
              <a:solidFill>
                <a:srgbClr val="545454"/>
              </a:solidFill>
              <a:latin typeface="Inter"/>
            </a:endParaRPr>
          </a:p>
        </p:txBody>
      </p:sp>
      <p:pic>
        <p:nvPicPr>
          <p:cNvPr id="9" name="圖片 8" descr="Minimal cartoon showing a resume scanner and two independently closed checkpoint gates.">
            <a:extLst>
              <a:ext uri="{FF2B5EF4-FFF2-40B4-BE49-F238E27FC236}">
                <a16:creationId xmlns:a16="http://schemas.microsoft.com/office/drawing/2014/main" id="{6CFC63DD-5D66-7F9C-A66D-1E76B95752E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2235200"/>
            <a:ext cx="8636000" cy="342900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EEED43D3-3B63-5F2E-D3CA-3F55B7994540}"/>
              </a:ext>
            </a:extLst>
          </p:cNvPr>
          <p:cNvSpPr txBox="1"/>
          <p:nvPr/>
        </p:nvSpPr>
        <p:spPr>
          <a:xfrm>
            <a:off x="5397500" y="30988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300" b="1" dirty="0">
                <a:solidFill>
                  <a:srgbClr val="C8102E"/>
                </a:solidFill>
                <a:latin typeface="JetBrains Mono"/>
              </a:rPr>
              <a:t>LIVENESS</a:t>
            </a:r>
            <a:endParaRPr lang="zh-CN" altLang="en-US" sz="1300" b="1" dirty="0">
              <a:solidFill>
                <a:srgbClr val="C8102E"/>
              </a:solidFill>
              <a:latin typeface="JetBrains Mono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4FFE9F1-1E94-339B-19EF-326B30A5A1F3}"/>
              </a:ext>
            </a:extLst>
          </p:cNvPr>
          <p:cNvSpPr txBox="1"/>
          <p:nvPr/>
        </p:nvSpPr>
        <p:spPr>
          <a:xfrm>
            <a:off x="7810500" y="30988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300" b="1">
                <a:solidFill>
                  <a:srgbClr val="C8102E"/>
                </a:solidFill>
                <a:latin typeface="JetBrains Mono"/>
              </a:rPr>
              <a:t>TIMELINE</a:t>
            </a:r>
            <a:endParaRPr lang="zh-CN" altLang="en-US" sz="1300" b="1">
              <a:solidFill>
                <a:srgbClr val="C8102E"/>
              </a:solidFill>
              <a:latin typeface="JetBrains Mono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FBABA37-E13E-863B-CF6E-613A8C3B38AD}"/>
              </a:ext>
            </a:extLst>
          </p:cNvPr>
          <p:cNvSpPr txBox="1"/>
          <p:nvPr/>
        </p:nvSpPr>
        <p:spPr>
          <a:xfrm>
            <a:off x="1968500" y="56642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b="1">
                <a:solidFill>
                  <a:srgbClr val="2A1A0E"/>
                </a:solidFill>
                <a:latin typeface="Inter"/>
              </a:rPr>
              <a:t>ATS paste-test</a:t>
            </a:r>
            <a:endParaRPr lang="zh-CN" altLang="en-US" b="1">
              <a:solidFill>
                <a:srgbClr val="2A1A0E"/>
              </a:solidFill>
              <a:latin typeface="Inter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D4C726E-4CB3-4D58-FF93-39E5A333CB9A}"/>
              </a:ext>
            </a:extLst>
          </p:cNvPr>
          <p:cNvSpPr txBox="1"/>
          <p:nvPr/>
        </p:nvSpPr>
        <p:spPr>
          <a:xfrm>
            <a:off x="5918200" y="56642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b="1" dirty="0">
                <a:solidFill>
                  <a:srgbClr val="C8102E"/>
                </a:solidFill>
                <a:latin typeface="Inter"/>
              </a:rPr>
              <a:t>If 0, skip</a:t>
            </a:r>
            <a:endParaRPr lang="zh-CN" altLang="en-US" b="1" dirty="0">
              <a:solidFill>
                <a:srgbClr val="C8102E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089998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6DBE2C7-8339-FE32-D0FA-1FB222DCF6ED}"/>
              </a:ext>
            </a:extLst>
          </p:cNvPr>
          <p:cNvSpPr txBox="1"/>
          <p:nvPr/>
        </p:nvSpPr>
        <p:spPr>
          <a:xfrm>
            <a:off x="533400" y="3048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00" b="1">
                <a:solidFill>
                  <a:srgbClr val="545454"/>
                </a:solidFill>
                <a:latin typeface="Inter"/>
              </a:rPr>
              <a:t>SUCCESS CAN MEAN STOPPING</a:t>
            </a:r>
            <a:endParaRPr lang="zh-CN" altLang="en-US" sz="1200" b="1">
              <a:solidFill>
                <a:srgbClr val="545454"/>
              </a:solidFill>
              <a:latin typeface="Inter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C6AA489-66E8-C444-F0C3-1926DB550F28}"/>
              </a:ext>
            </a:extLst>
          </p:cNvPr>
          <p:cNvSpPr txBox="1"/>
          <p:nvPr/>
        </p:nvSpPr>
        <p:spPr>
          <a:xfrm>
            <a:off x="10998200" y="6413500"/>
            <a:ext cx="66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zh-CN" sz="1100">
                <a:solidFill>
                  <a:srgbClr val="545454"/>
                </a:solidFill>
                <a:latin typeface="JetBrains Mono"/>
              </a:rPr>
              <a:t>02</a:t>
            </a:r>
            <a:endParaRPr lang="zh-CN" altLang="en-US" sz="1100">
              <a:solidFill>
                <a:srgbClr val="545454"/>
              </a:solidFill>
              <a:latin typeface="JetBrains Mono"/>
            </a:endParaRP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20C5D158-64F2-6A1C-A1B1-5431DE247EA2}"/>
              </a:ext>
            </a:extLst>
          </p:cNvPr>
          <p:cNvCxnSpPr/>
          <p:nvPr/>
        </p:nvCxnSpPr>
        <p:spPr>
          <a:xfrm>
            <a:off x="533400" y="6299200"/>
            <a:ext cx="11125200" cy="0"/>
          </a:xfrm>
          <a:prstGeom prst="line">
            <a:avLst/>
          </a:prstGeom>
          <a:ln w="9525">
            <a:solidFill>
              <a:srgbClr val="D4D4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3C56AAC5-5C0D-D053-7B0A-1AD17882A8B2}"/>
              </a:ext>
            </a:extLst>
          </p:cNvPr>
          <p:cNvSpPr txBox="1"/>
          <p:nvPr/>
        </p:nvSpPr>
        <p:spPr>
          <a:xfrm>
            <a:off x="533400" y="723900"/>
            <a:ext cx="11049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4200">
                <a:solidFill>
                  <a:srgbClr val="2A1A0E"/>
                </a:solidFill>
                <a:latin typeface="EB Garamond" panose="00000500000000000000" pitchFamily="2" charset="0"/>
              </a:rPr>
              <a:t>A correct Skip is success</a:t>
            </a:r>
            <a:endParaRPr lang="zh-CN" altLang="en-US" sz="4200">
              <a:solidFill>
                <a:srgbClr val="2A1A0E"/>
              </a:solidFill>
              <a:latin typeface="EB Garamond" panose="00000500000000000000" pitchFamily="2" charset="0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FBFC968F-C83F-F1F7-C3DB-77DB4F6DFF8B}"/>
              </a:ext>
            </a:extLst>
          </p:cNvPr>
          <p:cNvCxnSpPr/>
          <p:nvPr/>
        </p:nvCxnSpPr>
        <p:spPr>
          <a:xfrm>
            <a:off x="533400" y="1676400"/>
            <a:ext cx="1219200" cy="0"/>
          </a:xfrm>
          <a:prstGeom prst="line">
            <a:avLst/>
          </a:prstGeom>
          <a:ln w="508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809AE7F2-4114-EF87-1909-8570349BEAB1}"/>
              </a:ext>
            </a:extLst>
          </p:cNvPr>
          <p:cNvSpPr txBox="1"/>
          <p:nvPr/>
        </p:nvSpPr>
        <p:spPr>
          <a:xfrm>
            <a:off x="1524000" y="23368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3100" b="1">
                <a:solidFill>
                  <a:srgbClr val="2A1A0E"/>
                </a:solidFill>
                <a:latin typeface="JetBrains Mono"/>
              </a:rPr>
              <a:t>Liveness = 0    →    Skip</a:t>
            </a:r>
            <a:endParaRPr lang="zh-CN" altLang="en-US" sz="3100" b="1">
              <a:solidFill>
                <a:srgbClr val="2A1A0E"/>
              </a:solidFill>
              <a:latin typeface="JetBrains Mono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758E2D3-5D2F-2762-526F-97416690F3C8}"/>
              </a:ext>
            </a:extLst>
          </p:cNvPr>
          <p:cNvSpPr txBox="1"/>
          <p:nvPr/>
        </p:nvSpPr>
        <p:spPr>
          <a:xfrm>
            <a:off x="1524000" y="34798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3100" b="1">
                <a:solidFill>
                  <a:srgbClr val="2A1A0E"/>
                </a:solidFill>
                <a:latin typeface="JetBrains Mono"/>
              </a:rPr>
              <a:t>Timeline = 0    →    Skip</a:t>
            </a:r>
            <a:endParaRPr lang="zh-CN" altLang="en-US" sz="3100" b="1">
              <a:solidFill>
                <a:srgbClr val="2A1A0E"/>
              </a:solidFill>
              <a:latin typeface="JetBrains Mono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D4BAA09-0C2A-9E10-7B86-D1FA156C042B}"/>
              </a:ext>
            </a:extLst>
          </p:cNvPr>
          <p:cNvSpPr txBox="1"/>
          <p:nvPr/>
        </p:nvSpPr>
        <p:spPr>
          <a:xfrm>
            <a:off x="1524000" y="46990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2200" b="1">
                <a:solidFill>
                  <a:srgbClr val="C8102E"/>
                </a:solidFill>
                <a:latin typeface="Inter"/>
              </a:rPr>
              <a:t>2 / 2 wrong Apply results caught</a:t>
            </a:r>
            <a:endParaRPr lang="zh-CN" altLang="en-US" sz="2200" b="1">
              <a:solidFill>
                <a:srgbClr val="C8102E"/>
              </a:solidFill>
              <a:latin typeface="Inter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288050F-3950-698F-2698-821814201866}"/>
              </a:ext>
            </a:extLst>
          </p:cNvPr>
          <p:cNvSpPr txBox="1"/>
          <p:nvPr/>
        </p:nvSpPr>
        <p:spPr>
          <a:xfrm>
            <a:off x="1524000" y="5664200"/>
            <a:ext cx="9144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zh-CN" sz="1600">
                <a:solidFill>
                  <a:srgbClr val="545454"/>
                </a:solidFill>
                <a:latin typeface="Inter"/>
              </a:rPr>
              <a:t>Success here means the role did not pass the gate.</a:t>
            </a:r>
            <a:endParaRPr lang="zh-CN" altLang="en-US" sz="1600">
              <a:solidFill>
                <a:srgbClr val="545454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375542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221</Words>
  <Application>Microsoft Office PowerPoint</Application>
  <PresentationFormat>寬螢幕</PresentationFormat>
  <Paragraphs>19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9" baseType="lpstr">
      <vt:lpstr>等线</vt:lpstr>
      <vt:lpstr>等线 Light</vt:lpstr>
      <vt:lpstr>Inter</vt:lpstr>
      <vt:lpstr>JetBrains Mono</vt:lpstr>
      <vt:lpstr>Arial</vt:lpstr>
      <vt:lpstr>EB Garamond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Zening Teng</dc:creator>
  <cp:lastModifiedBy>Zening Teng</cp:lastModifiedBy>
  <cp:revision>2</cp:revision>
  <dcterms:created xsi:type="dcterms:W3CDTF">2026-08-16T22:29:29Z</dcterms:created>
  <dcterms:modified xsi:type="dcterms:W3CDTF">2026-08-17T00:15:26Z</dcterms:modified>
</cp:coreProperties>
</file>