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
  </p:notesMasterIdLst>
  <p:sldIdLst>
    <p:sldId id="256" r:id="rId2"/>
    <p:sldId id="257" r:id="rId3"/>
    <p:sldId id="258" r:id="rId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9" d="100"/>
          <a:sy n="89" d="100"/>
        </p:scale>
        <p:origin x="144"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BB6822-2AB2-4ADA-80D7-8A34349A445A}" type="datetimeFigureOut">
              <a:rPr lang="zh-CN" altLang="en-US" smtClean="0"/>
              <a:t>2026/8/16</a:t>
            </a:fld>
            <a:endParaRPr lang="zh-CN"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CN" altLang="en-US"/>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891AA6C-4D8B-4C7D-884B-C892F3F2D632}" type="slidenum">
              <a:rPr lang="zh-CN" altLang="en-US" smtClean="0"/>
              <a:t>‹#›</a:t>
            </a:fld>
            <a:endParaRPr lang="zh-CN" altLang="en-US"/>
          </a:p>
        </p:txBody>
      </p:sp>
    </p:spTree>
    <p:extLst>
      <p:ext uri="{BB962C8B-B14F-4D97-AF65-F5344CB8AC3E}">
        <p14:creationId xmlns:p14="http://schemas.microsoft.com/office/powerpoint/2010/main" val="7196817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CN"/>
              <a:t>Hi, I'm Zening Teng. My capstone contribution adds two verification modules to The Reallocation Engine. The first checks whether resume text survives PDF extraction. The second proves that liveness and timeline remain hard gates instead of ordinary weighted votes. The contribution does not make a real application decision. It produces evidence a person can review.</a:t>
            </a:r>
            <a:endParaRPr lang="zh-CN" altLang="en-US"/>
          </a:p>
        </p:txBody>
      </p:sp>
      <p:sp>
        <p:nvSpPr>
          <p:cNvPr id="4" name="投影片編號版面配置區 3"/>
          <p:cNvSpPr>
            <a:spLocks noGrp="1"/>
          </p:cNvSpPr>
          <p:nvPr>
            <p:ph type="sldNum" sz="quarter" idx="5"/>
          </p:nvPr>
        </p:nvSpPr>
        <p:spPr/>
        <p:txBody>
          <a:bodyPr/>
          <a:lstStyle/>
          <a:p>
            <a:fld id="{5891AA6C-4D8B-4C7D-884B-C892F3F2D632}" type="slidenum">
              <a:rPr lang="zh-CN" altLang="en-US" smtClean="0"/>
              <a:t>1</a:t>
            </a:fld>
            <a:endParaRPr lang="zh-CN" altLang="en-US"/>
          </a:p>
        </p:txBody>
      </p:sp>
    </p:spTree>
    <p:extLst>
      <p:ext uri="{BB962C8B-B14F-4D97-AF65-F5344CB8AC3E}">
        <p14:creationId xmlns:p14="http://schemas.microsoft.com/office/powerpoint/2010/main" val="25256381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CN"/>
              <a:t>The ATS module accepts a PDF or Markdown file. PDF.js extracts the text layer, seven deterministic checks test parser mechanics, and a private audit records the checks plus a heuristic inventory. It does not generate a decision. The gate module reads a stored H-1B record as a nonzero historical proxy, then runs the production scorer. If liveness or timeline is zero, the output must be zero and Skip. The same contract is run against a deliberately wrong gate-as-vote formula, which the harness must catch.</a:t>
            </a:r>
            <a:endParaRPr lang="zh-CN" altLang="en-US"/>
          </a:p>
        </p:txBody>
      </p:sp>
      <p:sp>
        <p:nvSpPr>
          <p:cNvPr id="4" name="投影片編號版面配置區 3"/>
          <p:cNvSpPr>
            <a:spLocks noGrp="1"/>
          </p:cNvSpPr>
          <p:nvPr>
            <p:ph type="sldNum" sz="quarter" idx="5"/>
          </p:nvPr>
        </p:nvSpPr>
        <p:spPr/>
        <p:txBody>
          <a:bodyPr/>
          <a:lstStyle/>
          <a:p>
            <a:fld id="{5891AA6C-4D8B-4C7D-884B-C892F3F2D632}" type="slidenum">
              <a:rPr lang="zh-CN" altLang="en-US" smtClean="0"/>
              <a:t>2</a:t>
            </a:fld>
            <a:endParaRPr lang="zh-CN" altLang="en-US"/>
          </a:p>
        </p:txBody>
      </p:sp>
    </p:spTree>
    <p:extLst>
      <p:ext uri="{BB962C8B-B14F-4D97-AF65-F5344CB8AC3E}">
        <p14:creationId xmlns:p14="http://schemas.microsoft.com/office/powerpoint/2010/main" val="23967692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CN"/>
              <a:t>The measurable result is that the harness caught both controlled gate-as-vote witness cases. That is a software-test result, not a real job score. The code can verify parser mechanics, independently declared fields and order, gate arithmetic, and the named mutation. It cannot certify every commercial ATS, current job liveness, my legal timeline, or a final application decision. My main lesson is that a gate needs an executable failure path. The honest limitation is that the historical H-1B rate is only a nonzero proxy, not a complete sponsorship probability.</a:t>
            </a:r>
            <a:endParaRPr lang="zh-CN" altLang="en-US"/>
          </a:p>
        </p:txBody>
      </p:sp>
      <p:sp>
        <p:nvSpPr>
          <p:cNvPr id="4" name="投影片編號版面配置區 3"/>
          <p:cNvSpPr>
            <a:spLocks noGrp="1"/>
          </p:cNvSpPr>
          <p:nvPr>
            <p:ph type="sldNum" sz="quarter" idx="5"/>
          </p:nvPr>
        </p:nvSpPr>
        <p:spPr/>
        <p:txBody>
          <a:bodyPr/>
          <a:lstStyle/>
          <a:p>
            <a:fld id="{5891AA6C-4D8B-4C7D-884B-C892F3F2D632}" type="slidenum">
              <a:rPr lang="zh-CN" altLang="en-US" smtClean="0"/>
              <a:t>3</a:t>
            </a:fld>
            <a:endParaRPr lang="zh-CN" altLang="en-US"/>
          </a:p>
        </p:txBody>
      </p:sp>
    </p:spTree>
    <p:extLst>
      <p:ext uri="{BB962C8B-B14F-4D97-AF65-F5344CB8AC3E}">
        <p14:creationId xmlns:p14="http://schemas.microsoft.com/office/powerpoint/2010/main" val="24925407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5E11C0D-5CCD-5094-0AFA-E9F8BE725BEB}"/>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endParaRPr lang="zh-CN" altLang="en-US"/>
          </a:p>
        </p:txBody>
      </p:sp>
      <p:sp>
        <p:nvSpPr>
          <p:cNvPr id="3" name="副標題 2">
            <a:extLst>
              <a:ext uri="{FF2B5EF4-FFF2-40B4-BE49-F238E27FC236}">
                <a16:creationId xmlns:a16="http://schemas.microsoft.com/office/drawing/2014/main" id="{FC403308-8FFD-57FF-5DD0-D87415416E2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endParaRPr lang="zh-CN" altLang="en-US"/>
          </a:p>
        </p:txBody>
      </p:sp>
      <p:sp>
        <p:nvSpPr>
          <p:cNvPr id="4" name="日期版面配置區 3">
            <a:extLst>
              <a:ext uri="{FF2B5EF4-FFF2-40B4-BE49-F238E27FC236}">
                <a16:creationId xmlns:a16="http://schemas.microsoft.com/office/drawing/2014/main" id="{069861E6-A2C4-EDE5-842B-5D17A66DA600}"/>
              </a:ext>
            </a:extLst>
          </p:cNvPr>
          <p:cNvSpPr>
            <a:spLocks noGrp="1"/>
          </p:cNvSpPr>
          <p:nvPr>
            <p:ph type="dt" sz="half" idx="10"/>
          </p:nvPr>
        </p:nvSpPr>
        <p:spPr/>
        <p:txBody>
          <a:bodyPr/>
          <a:lstStyle/>
          <a:p>
            <a:fld id="{1A876303-028F-4F18-A092-8880BFF95F6A}" type="datetimeFigureOut">
              <a:rPr lang="zh-CN" altLang="en-US" smtClean="0"/>
              <a:t>2026/8/16</a:t>
            </a:fld>
            <a:endParaRPr lang="zh-CN" altLang="en-US"/>
          </a:p>
        </p:txBody>
      </p:sp>
      <p:sp>
        <p:nvSpPr>
          <p:cNvPr id="5" name="頁尾版面配置區 4">
            <a:extLst>
              <a:ext uri="{FF2B5EF4-FFF2-40B4-BE49-F238E27FC236}">
                <a16:creationId xmlns:a16="http://schemas.microsoft.com/office/drawing/2014/main" id="{A151A833-3B18-6A8C-ABCC-F0C2F641184A}"/>
              </a:ext>
            </a:extLst>
          </p:cNvPr>
          <p:cNvSpPr>
            <a:spLocks noGrp="1"/>
          </p:cNvSpPr>
          <p:nvPr>
            <p:ph type="ftr" sz="quarter" idx="11"/>
          </p:nvPr>
        </p:nvSpPr>
        <p:spPr/>
        <p:txBody>
          <a:bodyPr/>
          <a:lstStyle/>
          <a:p>
            <a:endParaRPr lang="zh-CN" altLang="en-US"/>
          </a:p>
        </p:txBody>
      </p:sp>
      <p:sp>
        <p:nvSpPr>
          <p:cNvPr id="6" name="投影片編號版面配置區 5">
            <a:extLst>
              <a:ext uri="{FF2B5EF4-FFF2-40B4-BE49-F238E27FC236}">
                <a16:creationId xmlns:a16="http://schemas.microsoft.com/office/drawing/2014/main" id="{CCE2FEC7-0829-4D28-B947-510322DBF423}"/>
              </a:ext>
            </a:extLst>
          </p:cNvPr>
          <p:cNvSpPr>
            <a:spLocks noGrp="1"/>
          </p:cNvSpPr>
          <p:nvPr>
            <p:ph type="sldNum" sz="quarter" idx="12"/>
          </p:nvPr>
        </p:nvSpPr>
        <p:spPr/>
        <p:txBody>
          <a:bodyPr/>
          <a:lstStyle/>
          <a:p>
            <a:fld id="{86967415-04EE-41F6-AD6F-BF9F33210A12}" type="slidenum">
              <a:rPr lang="zh-CN" altLang="en-US" smtClean="0"/>
              <a:t>‹#›</a:t>
            </a:fld>
            <a:endParaRPr lang="zh-CN" altLang="en-US"/>
          </a:p>
        </p:txBody>
      </p:sp>
    </p:spTree>
    <p:extLst>
      <p:ext uri="{BB962C8B-B14F-4D97-AF65-F5344CB8AC3E}">
        <p14:creationId xmlns:p14="http://schemas.microsoft.com/office/powerpoint/2010/main" val="25918335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F7D0694-8303-5F3C-BEC6-92A19B305601}"/>
              </a:ext>
            </a:extLst>
          </p:cNvPr>
          <p:cNvSpPr>
            <a:spLocks noGrp="1"/>
          </p:cNvSpPr>
          <p:nvPr>
            <p:ph type="title"/>
          </p:nvPr>
        </p:nvSpPr>
        <p:spPr/>
        <p:txBody>
          <a:bodyPr/>
          <a:lstStyle/>
          <a:p>
            <a:r>
              <a:rPr lang="zh-TW" altLang="en-US"/>
              <a:t>按一下以編輯母片標題樣式</a:t>
            </a:r>
            <a:endParaRPr lang="zh-CN" altLang="en-US"/>
          </a:p>
        </p:txBody>
      </p:sp>
      <p:sp>
        <p:nvSpPr>
          <p:cNvPr id="3" name="內容版面配置區 2">
            <a:extLst>
              <a:ext uri="{FF2B5EF4-FFF2-40B4-BE49-F238E27FC236}">
                <a16:creationId xmlns:a16="http://schemas.microsoft.com/office/drawing/2014/main" id="{42651962-6416-A5BA-CA7F-5E4AE199AC7F}"/>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CN" altLang="en-US"/>
          </a:p>
        </p:txBody>
      </p:sp>
      <p:sp>
        <p:nvSpPr>
          <p:cNvPr id="4" name="日期版面配置區 3">
            <a:extLst>
              <a:ext uri="{FF2B5EF4-FFF2-40B4-BE49-F238E27FC236}">
                <a16:creationId xmlns:a16="http://schemas.microsoft.com/office/drawing/2014/main" id="{F1A5E3FC-6B4C-806F-1B05-DCD9F9352AA0}"/>
              </a:ext>
            </a:extLst>
          </p:cNvPr>
          <p:cNvSpPr>
            <a:spLocks noGrp="1"/>
          </p:cNvSpPr>
          <p:nvPr>
            <p:ph type="dt" sz="half" idx="10"/>
          </p:nvPr>
        </p:nvSpPr>
        <p:spPr/>
        <p:txBody>
          <a:bodyPr/>
          <a:lstStyle/>
          <a:p>
            <a:fld id="{1A876303-028F-4F18-A092-8880BFF95F6A}" type="datetimeFigureOut">
              <a:rPr lang="zh-CN" altLang="en-US" smtClean="0"/>
              <a:t>2026/8/16</a:t>
            </a:fld>
            <a:endParaRPr lang="zh-CN" altLang="en-US"/>
          </a:p>
        </p:txBody>
      </p:sp>
      <p:sp>
        <p:nvSpPr>
          <p:cNvPr id="5" name="頁尾版面配置區 4">
            <a:extLst>
              <a:ext uri="{FF2B5EF4-FFF2-40B4-BE49-F238E27FC236}">
                <a16:creationId xmlns:a16="http://schemas.microsoft.com/office/drawing/2014/main" id="{CA5D9203-A0DC-15D8-5B71-B3838C23D068}"/>
              </a:ext>
            </a:extLst>
          </p:cNvPr>
          <p:cNvSpPr>
            <a:spLocks noGrp="1"/>
          </p:cNvSpPr>
          <p:nvPr>
            <p:ph type="ftr" sz="quarter" idx="11"/>
          </p:nvPr>
        </p:nvSpPr>
        <p:spPr/>
        <p:txBody>
          <a:bodyPr/>
          <a:lstStyle/>
          <a:p>
            <a:endParaRPr lang="zh-CN" altLang="en-US"/>
          </a:p>
        </p:txBody>
      </p:sp>
      <p:sp>
        <p:nvSpPr>
          <p:cNvPr id="6" name="投影片編號版面配置區 5">
            <a:extLst>
              <a:ext uri="{FF2B5EF4-FFF2-40B4-BE49-F238E27FC236}">
                <a16:creationId xmlns:a16="http://schemas.microsoft.com/office/drawing/2014/main" id="{333DC7CD-0EEE-9689-9C43-307A53E804B3}"/>
              </a:ext>
            </a:extLst>
          </p:cNvPr>
          <p:cNvSpPr>
            <a:spLocks noGrp="1"/>
          </p:cNvSpPr>
          <p:nvPr>
            <p:ph type="sldNum" sz="quarter" idx="12"/>
          </p:nvPr>
        </p:nvSpPr>
        <p:spPr/>
        <p:txBody>
          <a:bodyPr/>
          <a:lstStyle/>
          <a:p>
            <a:fld id="{86967415-04EE-41F6-AD6F-BF9F33210A12}" type="slidenum">
              <a:rPr lang="zh-CN" altLang="en-US" smtClean="0"/>
              <a:t>‹#›</a:t>
            </a:fld>
            <a:endParaRPr lang="zh-CN" altLang="en-US"/>
          </a:p>
        </p:txBody>
      </p:sp>
    </p:spTree>
    <p:extLst>
      <p:ext uri="{BB962C8B-B14F-4D97-AF65-F5344CB8AC3E}">
        <p14:creationId xmlns:p14="http://schemas.microsoft.com/office/powerpoint/2010/main" val="21675673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8F7D9DB-87C3-90DC-8065-061AC8D7E473}"/>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endParaRPr lang="zh-CN" altLang="en-US"/>
          </a:p>
        </p:txBody>
      </p:sp>
      <p:sp>
        <p:nvSpPr>
          <p:cNvPr id="3" name="文字版面配置區 2">
            <a:extLst>
              <a:ext uri="{FF2B5EF4-FFF2-40B4-BE49-F238E27FC236}">
                <a16:creationId xmlns:a16="http://schemas.microsoft.com/office/drawing/2014/main" id="{BC04490B-EE9A-FCDB-5790-070D900E433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5C276778-E236-EFC7-83C9-E09E5EC29FC2}"/>
              </a:ext>
            </a:extLst>
          </p:cNvPr>
          <p:cNvSpPr>
            <a:spLocks noGrp="1"/>
          </p:cNvSpPr>
          <p:nvPr>
            <p:ph type="dt" sz="half" idx="10"/>
          </p:nvPr>
        </p:nvSpPr>
        <p:spPr/>
        <p:txBody>
          <a:bodyPr/>
          <a:lstStyle/>
          <a:p>
            <a:fld id="{1A876303-028F-4F18-A092-8880BFF95F6A}" type="datetimeFigureOut">
              <a:rPr lang="zh-CN" altLang="en-US" smtClean="0"/>
              <a:t>2026/8/16</a:t>
            </a:fld>
            <a:endParaRPr lang="zh-CN" altLang="en-US"/>
          </a:p>
        </p:txBody>
      </p:sp>
      <p:sp>
        <p:nvSpPr>
          <p:cNvPr id="5" name="頁尾版面配置區 4">
            <a:extLst>
              <a:ext uri="{FF2B5EF4-FFF2-40B4-BE49-F238E27FC236}">
                <a16:creationId xmlns:a16="http://schemas.microsoft.com/office/drawing/2014/main" id="{D8FB43D2-3E88-157D-F966-BE1C71027803}"/>
              </a:ext>
            </a:extLst>
          </p:cNvPr>
          <p:cNvSpPr>
            <a:spLocks noGrp="1"/>
          </p:cNvSpPr>
          <p:nvPr>
            <p:ph type="ftr" sz="quarter" idx="11"/>
          </p:nvPr>
        </p:nvSpPr>
        <p:spPr/>
        <p:txBody>
          <a:bodyPr/>
          <a:lstStyle/>
          <a:p>
            <a:endParaRPr lang="zh-CN" altLang="en-US"/>
          </a:p>
        </p:txBody>
      </p:sp>
      <p:sp>
        <p:nvSpPr>
          <p:cNvPr id="6" name="投影片編號版面配置區 5">
            <a:extLst>
              <a:ext uri="{FF2B5EF4-FFF2-40B4-BE49-F238E27FC236}">
                <a16:creationId xmlns:a16="http://schemas.microsoft.com/office/drawing/2014/main" id="{02A0F58A-CB57-7557-4610-042CB3C591EE}"/>
              </a:ext>
            </a:extLst>
          </p:cNvPr>
          <p:cNvSpPr>
            <a:spLocks noGrp="1"/>
          </p:cNvSpPr>
          <p:nvPr>
            <p:ph type="sldNum" sz="quarter" idx="12"/>
          </p:nvPr>
        </p:nvSpPr>
        <p:spPr/>
        <p:txBody>
          <a:bodyPr/>
          <a:lstStyle/>
          <a:p>
            <a:fld id="{86967415-04EE-41F6-AD6F-BF9F33210A12}" type="slidenum">
              <a:rPr lang="zh-CN" altLang="en-US" smtClean="0"/>
              <a:t>‹#›</a:t>
            </a:fld>
            <a:endParaRPr lang="zh-CN" altLang="en-US"/>
          </a:p>
        </p:txBody>
      </p:sp>
    </p:spTree>
    <p:extLst>
      <p:ext uri="{BB962C8B-B14F-4D97-AF65-F5344CB8AC3E}">
        <p14:creationId xmlns:p14="http://schemas.microsoft.com/office/powerpoint/2010/main" val="37526110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FC055D2-CE44-1F51-68C7-1C447FDA61AE}"/>
              </a:ext>
            </a:extLst>
          </p:cNvPr>
          <p:cNvSpPr>
            <a:spLocks noGrp="1"/>
          </p:cNvSpPr>
          <p:nvPr>
            <p:ph type="title"/>
          </p:nvPr>
        </p:nvSpPr>
        <p:spPr/>
        <p:txBody>
          <a:bodyPr/>
          <a:lstStyle/>
          <a:p>
            <a:r>
              <a:rPr lang="zh-TW" altLang="en-US"/>
              <a:t>按一下以編輯母片標題樣式</a:t>
            </a:r>
            <a:endParaRPr lang="zh-CN" altLang="en-US"/>
          </a:p>
        </p:txBody>
      </p:sp>
      <p:sp>
        <p:nvSpPr>
          <p:cNvPr id="3" name="內容版面配置區 2">
            <a:extLst>
              <a:ext uri="{FF2B5EF4-FFF2-40B4-BE49-F238E27FC236}">
                <a16:creationId xmlns:a16="http://schemas.microsoft.com/office/drawing/2014/main" id="{D9B367DC-2114-75A5-3DC8-B13B9A7F0718}"/>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CN" altLang="en-US"/>
          </a:p>
        </p:txBody>
      </p:sp>
      <p:sp>
        <p:nvSpPr>
          <p:cNvPr id="4" name="內容版面配置區 3">
            <a:extLst>
              <a:ext uri="{FF2B5EF4-FFF2-40B4-BE49-F238E27FC236}">
                <a16:creationId xmlns:a16="http://schemas.microsoft.com/office/drawing/2014/main" id="{EC64ED4A-32BD-965E-673C-81A21F300B36}"/>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CN" altLang="en-US"/>
          </a:p>
        </p:txBody>
      </p:sp>
      <p:sp>
        <p:nvSpPr>
          <p:cNvPr id="5" name="日期版面配置區 4">
            <a:extLst>
              <a:ext uri="{FF2B5EF4-FFF2-40B4-BE49-F238E27FC236}">
                <a16:creationId xmlns:a16="http://schemas.microsoft.com/office/drawing/2014/main" id="{E6DCEDE0-2F81-665D-370C-B4580054036A}"/>
              </a:ext>
            </a:extLst>
          </p:cNvPr>
          <p:cNvSpPr>
            <a:spLocks noGrp="1"/>
          </p:cNvSpPr>
          <p:nvPr>
            <p:ph type="dt" sz="half" idx="10"/>
          </p:nvPr>
        </p:nvSpPr>
        <p:spPr/>
        <p:txBody>
          <a:bodyPr/>
          <a:lstStyle/>
          <a:p>
            <a:fld id="{1A876303-028F-4F18-A092-8880BFF95F6A}" type="datetimeFigureOut">
              <a:rPr lang="zh-CN" altLang="en-US" smtClean="0"/>
              <a:t>2026/8/16</a:t>
            </a:fld>
            <a:endParaRPr lang="zh-CN" altLang="en-US"/>
          </a:p>
        </p:txBody>
      </p:sp>
      <p:sp>
        <p:nvSpPr>
          <p:cNvPr id="6" name="頁尾版面配置區 5">
            <a:extLst>
              <a:ext uri="{FF2B5EF4-FFF2-40B4-BE49-F238E27FC236}">
                <a16:creationId xmlns:a16="http://schemas.microsoft.com/office/drawing/2014/main" id="{4F0DD53E-3181-A571-3DE5-1251B1821C01}"/>
              </a:ext>
            </a:extLst>
          </p:cNvPr>
          <p:cNvSpPr>
            <a:spLocks noGrp="1"/>
          </p:cNvSpPr>
          <p:nvPr>
            <p:ph type="ftr" sz="quarter" idx="11"/>
          </p:nvPr>
        </p:nvSpPr>
        <p:spPr/>
        <p:txBody>
          <a:bodyPr/>
          <a:lstStyle/>
          <a:p>
            <a:endParaRPr lang="zh-CN" altLang="en-US"/>
          </a:p>
        </p:txBody>
      </p:sp>
      <p:sp>
        <p:nvSpPr>
          <p:cNvPr id="7" name="投影片編號版面配置區 6">
            <a:extLst>
              <a:ext uri="{FF2B5EF4-FFF2-40B4-BE49-F238E27FC236}">
                <a16:creationId xmlns:a16="http://schemas.microsoft.com/office/drawing/2014/main" id="{7B9E352E-2F42-7E2E-C280-53BF9759B0CE}"/>
              </a:ext>
            </a:extLst>
          </p:cNvPr>
          <p:cNvSpPr>
            <a:spLocks noGrp="1"/>
          </p:cNvSpPr>
          <p:nvPr>
            <p:ph type="sldNum" sz="quarter" idx="12"/>
          </p:nvPr>
        </p:nvSpPr>
        <p:spPr/>
        <p:txBody>
          <a:bodyPr/>
          <a:lstStyle/>
          <a:p>
            <a:fld id="{86967415-04EE-41F6-AD6F-BF9F33210A12}" type="slidenum">
              <a:rPr lang="zh-CN" altLang="en-US" smtClean="0"/>
              <a:t>‹#›</a:t>
            </a:fld>
            <a:endParaRPr lang="zh-CN" altLang="en-US"/>
          </a:p>
        </p:txBody>
      </p:sp>
    </p:spTree>
    <p:extLst>
      <p:ext uri="{BB962C8B-B14F-4D97-AF65-F5344CB8AC3E}">
        <p14:creationId xmlns:p14="http://schemas.microsoft.com/office/powerpoint/2010/main" val="31357523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5D9CF79-65BA-CE3D-1564-7A4BE5ECDAAA}"/>
              </a:ext>
            </a:extLst>
          </p:cNvPr>
          <p:cNvSpPr>
            <a:spLocks noGrp="1"/>
          </p:cNvSpPr>
          <p:nvPr>
            <p:ph type="title"/>
          </p:nvPr>
        </p:nvSpPr>
        <p:spPr>
          <a:xfrm>
            <a:off x="839788" y="365125"/>
            <a:ext cx="10515600" cy="1325563"/>
          </a:xfrm>
        </p:spPr>
        <p:txBody>
          <a:bodyPr/>
          <a:lstStyle/>
          <a:p>
            <a:r>
              <a:rPr lang="zh-TW" altLang="en-US"/>
              <a:t>按一下以編輯母片標題樣式</a:t>
            </a:r>
            <a:endParaRPr lang="zh-CN" altLang="en-US"/>
          </a:p>
        </p:txBody>
      </p:sp>
      <p:sp>
        <p:nvSpPr>
          <p:cNvPr id="3" name="文字版面配置區 2">
            <a:extLst>
              <a:ext uri="{FF2B5EF4-FFF2-40B4-BE49-F238E27FC236}">
                <a16:creationId xmlns:a16="http://schemas.microsoft.com/office/drawing/2014/main" id="{F5E0852C-9924-DDBF-7464-4DB54FE562C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E6E2DE07-FDB2-7976-7A58-7D529D1138AC}"/>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CN" altLang="en-US"/>
          </a:p>
        </p:txBody>
      </p:sp>
      <p:sp>
        <p:nvSpPr>
          <p:cNvPr id="5" name="文字版面配置區 4">
            <a:extLst>
              <a:ext uri="{FF2B5EF4-FFF2-40B4-BE49-F238E27FC236}">
                <a16:creationId xmlns:a16="http://schemas.microsoft.com/office/drawing/2014/main" id="{6DAC4293-07E2-F158-476E-4F611E600A7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5D7DDF14-E49E-F2BD-520B-869D753B10BC}"/>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CN" altLang="en-US"/>
          </a:p>
        </p:txBody>
      </p:sp>
      <p:sp>
        <p:nvSpPr>
          <p:cNvPr id="7" name="日期版面配置區 6">
            <a:extLst>
              <a:ext uri="{FF2B5EF4-FFF2-40B4-BE49-F238E27FC236}">
                <a16:creationId xmlns:a16="http://schemas.microsoft.com/office/drawing/2014/main" id="{C564BC89-E6D3-6D98-648C-B8C366495336}"/>
              </a:ext>
            </a:extLst>
          </p:cNvPr>
          <p:cNvSpPr>
            <a:spLocks noGrp="1"/>
          </p:cNvSpPr>
          <p:nvPr>
            <p:ph type="dt" sz="half" idx="10"/>
          </p:nvPr>
        </p:nvSpPr>
        <p:spPr/>
        <p:txBody>
          <a:bodyPr/>
          <a:lstStyle/>
          <a:p>
            <a:fld id="{1A876303-028F-4F18-A092-8880BFF95F6A}" type="datetimeFigureOut">
              <a:rPr lang="zh-CN" altLang="en-US" smtClean="0"/>
              <a:t>2026/8/16</a:t>
            </a:fld>
            <a:endParaRPr lang="zh-CN" altLang="en-US"/>
          </a:p>
        </p:txBody>
      </p:sp>
      <p:sp>
        <p:nvSpPr>
          <p:cNvPr id="8" name="頁尾版面配置區 7">
            <a:extLst>
              <a:ext uri="{FF2B5EF4-FFF2-40B4-BE49-F238E27FC236}">
                <a16:creationId xmlns:a16="http://schemas.microsoft.com/office/drawing/2014/main" id="{FE785F39-18FC-5F5F-11BF-099FE097FEDE}"/>
              </a:ext>
            </a:extLst>
          </p:cNvPr>
          <p:cNvSpPr>
            <a:spLocks noGrp="1"/>
          </p:cNvSpPr>
          <p:nvPr>
            <p:ph type="ftr" sz="quarter" idx="11"/>
          </p:nvPr>
        </p:nvSpPr>
        <p:spPr/>
        <p:txBody>
          <a:bodyPr/>
          <a:lstStyle/>
          <a:p>
            <a:endParaRPr lang="zh-CN" altLang="en-US"/>
          </a:p>
        </p:txBody>
      </p:sp>
      <p:sp>
        <p:nvSpPr>
          <p:cNvPr id="9" name="投影片編號版面配置區 8">
            <a:extLst>
              <a:ext uri="{FF2B5EF4-FFF2-40B4-BE49-F238E27FC236}">
                <a16:creationId xmlns:a16="http://schemas.microsoft.com/office/drawing/2014/main" id="{A962D5B1-D047-6688-11BE-3AB090D33EAA}"/>
              </a:ext>
            </a:extLst>
          </p:cNvPr>
          <p:cNvSpPr>
            <a:spLocks noGrp="1"/>
          </p:cNvSpPr>
          <p:nvPr>
            <p:ph type="sldNum" sz="quarter" idx="12"/>
          </p:nvPr>
        </p:nvSpPr>
        <p:spPr/>
        <p:txBody>
          <a:bodyPr/>
          <a:lstStyle/>
          <a:p>
            <a:fld id="{86967415-04EE-41F6-AD6F-BF9F33210A12}" type="slidenum">
              <a:rPr lang="zh-CN" altLang="en-US" smtClean="0"/>
              <a:t>‹#›</a:t>
            </a:fld>
            <a:endParaRPr lang="zh-CN" altLang="en-US"/>
          </a:p>
        </p:txBody>
      </p:sp>
    </p:spTree>
    <p:extLst>
      <p:ext uri="{BB962C8B-B14F-4D97-AF65-F5344CB8AC3E}">
        <p14:creationId xmlns:p14="http://schemas.microsoft.com/office/powerpoint/2010/main" val="38087264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A32AACB-D23F-C365-EC0C-56E05C7514D2}"/>
              </a:ext>
            </a:extLst>
          </p:cNvPr>
          <p:cNvSpPr>
            <a:spLocks noGrp="1"/>
          </p:cNvSpPr>
          <p:nvPr>
            <p:ph type="title"/>
          </p:nvPr>
        </p:nvSpPr>
        <p:spPr/>
        <p:txBody>
          <a:bodyPr/>
          <a:lstStyle/>
          <a:p>
            <a:r>
              <a:rPr lang="zh-TW" altLang="en-US"/>
              <a:t>按一下以編輯母片標題樣式</a:t>
            </a:r>
            <a:endParaRPr lang="zh-CN" altLang="en-US"/>
          </a:p>
        </p:txBody>
      </p:sp>
      <p:sp>
        <p:nvSpPr>
          <p:cNvPr id="3" name="日期版面配置區 2">
            <a:extLst>
              <a:ext uri="{FF2B5EF4-FFF2-40B4-BE49-F238E27FC236}">
                <a16:creationId xmlns:a16="http://schemas.microsoft.com/office/drawing/2014/main" id="{B8B29D38-50B1-36B5-A84D-F9958A315CA3}"/>
              </a:ext>
            </a:extLst>
          </p:cNvPr>
          <p:cNvSpPr>
            <a:spLocks noGrp="1"/>
          </p:cNvSpPr>
          <p:nvPr>
            <p:ph type="dt" sz="half" idx="10"/>
          </p:nvPr>
        </p:nvSpPr>
        <p:spPr/>
        <p:txBody>
          <a:bodyPr/>
          <a:lstStyle/>
          <a:p>
            <a:fld id="{1A876303-028F-4F18-A092-8880BFF95F6A}" type="datetimeFigureOut">
              <a:rPr lang="zh-CN" altLang="en-US" smtClean="0"/>
              <a:t>2026/8/16</a:t>
            </a:fld>
            <a:endParaRPr lang="zh-CN" altLang="en-US"/>
          </a:p>
        </p:txBody>
      </p:sp>
      <p:sp>
        <p:nvSpPr>
          <p:cNvPr id="4" name="頁尾版面配置區 3">
            <a:extLst>
              <a:ext uri="{FF2B5EF4-FFF2-40B4-BE49-F238E27FC236}">
                <a16:creationId xmlns:a16="http://schemas.microsoft.com/office/drawing/2014/main" id="{D1930CDB-14A2-A9E8-6147-03D1A926E54D}"/>
              </a:ext>
            </a:extLst>
          </p:cNvPr>
          <p:cNvSpPr>
            <a:spLocks noGrp="1"/>
          </p:cNvSpPr>
          <p:nvPr>
            <p:ph type="ftr" sz="quarter" idx="11"/>
          </p:nvPr>
        </p:nvSpPr>
        <p:spPr/>
        <p:txBody>
          <a:bodyPr/>
          <a:lstStyle/>
          <a:p>
            <a:endParaRPr lang="zh-CN" altLang="en-US"/>
          </a:p>
        </p:txBody>
      </p:sp>
      <p:sp>
        <p:nvSpPr>
          <p:cNvPr id="5" name="投影片編號版面配置區 4">
            <a:extLst>
              <a:ext uri="{FF2B5EF4-FFF2-40B4-BE49-F238E27FC236}">
                <a16:creationId xmlns:a16="http://schemas.microsoft.com/office/drawing/2014/main" id="{CE928589-FB11-68B4-0230-4B767079761A}"/>
              </a:ext>
            </a:extLst>
          </p:cNvPr>
          <p:cNvSpPr>
            <a:spLocks noGrp="1"/>
          </p:cNvSpPr>
          <p:nvPr>
            <p:ph type="sldNum" sz="quarter" idx="12"/>
          </p:nvPr>
        </p:nvSpPr>
        <p:spPr/>
        <p:txBody>
          <a:bodyPr/>
          <a:lstStyle/>
          <a:p>
            <a:fld id="{86967415-04EE-41F6-AD6F-BF9F33210A12}" type="slidenum">
              <a:rPr lang="zh-CN" altLang="en-US" smtClean="0"/>
              <a:t>‹#›</a:t>
            </a:fld>
            <a:endParaRPr lang="zh-CN" altLang="en-US"/>
          </a:p>
        </p:txBody>
      </p:sp>
    </p:spTree>
    <p:extLst>
      <p:ext uri="{BB962C8B-B14F-4D97-AF65-F5344CB8AC3E}">
        <p14:creationId xmlns:p14="http://schemas.microsoft.com/office/powerpoint/2010/main" val="13825006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2CC1018A-34E2-A09D-7BD3-13A05BAAFBC4}"/>
              </a:ext>
            </a:extLst>
          </p:cNvPr>
          <p:cNvSpPr>
            <a:spLocks noGrp="1"/>
          </p:cNvSpPr>
          <p:nvPr>
            <p:ph type="dt" sz="half" idx="10"/>
          </p:nvPr>
        </p:nvSpPr>
        <p:spPr/>
        <p:txBody>
          <a:bodyPr/>
          <a:lstStyle/>
          <a:p>
            <a:fld id="{1A876303-028F-4F18-A092-8880BFF95F6A}" type="datetimeFigureOut">
              <a:rPr lang="zh-CN" altLang="en-US" smtClean="0"/>
              <a:t>2026/8/16</a:t>
            </a:fld>
            <a:endParaRPr lang="zh-CN" altLang="en-US"/>
          </a:p>
        </p:txBody>
      </p:sp>
      <p:sp>
        <p:nvSpPr>
          <p:cNvPr id="3" name="頁尾版面配置區 2">
            <a:extLst>
              <a:ext uri="{FF2B5EF4-FFF2-40B4-BE49-F238E27FC236}">
                <a16:creationId xmlns:a16="http://schemas.microsoft.com/office/drawing/2014/main" id="{24EEAFD9-0744-2111-3209-1E8293F79DDC}"/>
              </a:ext>
            </a:extLst>
          </p:cNvPr>
          <p:cNvSpPr>
            <a:spLocks noGrp="1"/>
          </p:cNvSpPr>
          <p:nvPr>
            <p:ph type="ftr" sz="quarter" idx="11"/>
          </p:nvPr>
        </p:nvSpPr>
        <p:spPr/>
        <p:txBody>
          <a:bodyPr/>
          <a:lstStyle/>
          <a:p>
            <a:endParaRPr lang="zh-CN" altLang="en-US"/>
          </a:p>
        </p:txBody>
      </p:sp>
      <p:sp>
        <p:nvSpPr>
          <p:cNvPr id="4" name="投影片編號版面配置區 3">
            <a:extLst>
              <a:ext uri="{FF2B5EF4-FFF2-40B4-BE49-F238E27FC236}">
                <a16:creationId xmlns:a16="http://schemas.microsoft.com/office/drawing/2014/main" id="{6D53B39C-807F-C30A-2797-6F1356D85FD5}"/>
              </a:ext>
            </a:extLst>
          </p:cNvPr>
          <p:cNvSpPr>
            <a:spLocks noGrp="1"/>
          </p:cNvSpPr>
          <p:nvPr>
            <p:ph type="sldNum" sz="quarter" idx="12"/>
          </p:nvPr>
        </p:nvSpPr>
        <p:spPr/>
        <p:txBody>
          <a:bodyPr/>
          <a:lstStyle/>
          <a:p>
            <a:fld id="{86967415-04EE-41F6-AD6F-BF9F33210A12}" type="slidenum">
              <a:rPr lang="zh-CN" altLang="en-US" smtClean="0"/>
              <a:t>‹#›</a:t>
            </a:fld>
            <a:endParaRPr lang="zh-CN" altLang="en-US"/>
          </a:p>
        </p:txBody>
      </p:sp>
    </p:spTree>
    <p:extLst>
      <p:ext uri="{BB962C8B-B14F-4D97-AF65-F5344CB8AC3E}">
        <p14:creationId xmlns:p14="http://schemas.microsoft.com/office/powerpoint/2010/main" val="34748656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67A77F4-D05D-B353-5BE6-947ED890D8E8}"/>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endParaRPr lang="zh-CN" altLang="en-US"/>
          </a:p>
        </p:txBody>
      </p:sp>
      <p:sp>
        <p:nvSpPr>
          <p:cNvPr id="3" name="內容版面配置區 2">
            <a:extLst>
              <a:ext uri="{FF2B5EF4-FFF2-40B4-BE49-F238E27FC236}">
                <a16:creationId xmlns:a16="http://schemas.microsoft.com/office/drawing/2014/main" id="{FA52E102-CBD9-2E42-C459-F6FB8B37DE3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CN" altLang="en-US"/>
          </a:p>
        </p:txBody>
      </p:sp>
      <p:sp>
        <p:nvSpPr>
          <p:cNvPr id="4" name="文字版面配置區 3">
            <a:extLst>
              <a:ext uri="{FF2B5EF4-FFF2-40B4-BE49-F238E27FC236}">
                <a16:creationId xmlns:a16="http://schemas.microsoft.com/office/drawing/2014/main" id="{E7DDDB01-D4EA-752C-2955-A20B5BFA09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596A1022-DE52-3732-C96C-7FDBEB961578}"/>
              </a:ext>
            </a:extLst>
          </p:cNvPr>
          <p:cNvSpPr>
            <a:spLocks noGrp="1"/>
          </p:cNvSpPr>
          <p:nvPr>
            <p:ph type="dt" sz="half" idx="10"/>
          </p:nvPr>
        </p:nvSpPr>
        <p:spPr/>
        <p:txBody>
          <a:bodyPr/>
          <a:lstStyle/>
          <a:p>
            <a:fld id="{1A876303-028F-4F18-A092-8880BFF95F6A}" type="datetimeFigureOut">
              <a:rPr lang="zh-CN" altLang="en-US" smtClean="0"/>
              <a:t>2026/8/16</a:t>
            </a:fld>
            <a:endParaRPr lang="zh-CN" altLang="en-US"/>
          </a:p>
        </p:txBody>
      </p:sp>
      <p:sp>
        <p:nvSpPr>
          <p:cNvPr id="6" name="頁尾版面配置區 5">
            <a:extLst>
              <a:ext uri="{FF2B5EF4-FFF2-40B4-BE49-F238E27FC236}">
                <a16:creationId xmlns:a16="http://schemas.microsoft.com/office/drawing/2014/main" id="{3BFEA058-9A73-10AE-5F58-C5CDBBECE1F1}"/>
              </a:ext>
            </a:extLst>
          </p:cNvPr>
          <p:cNvSpPr>
            <a:spLocks noGrp="1"/>
          </p:cNvSpPr>
          <p:nvPr>
            <p:ph type="ftr" sz="quarter" idx="11"/>
          </p:nvPr>
        </p:nvSpPr>
        <p:spPr/>
        <p:txBody>
          <a:bodyPr/>
          <a:lstStyle/>
          <a:p>
            <a:endParaRPr lang="zh-CN" altLang="en-US"/>
          </a:p>
        </p:txBody>
      </p:sp>
      <p:sp>
        <p:nvSpPr>
          <p:cNvPr id="7" name="投影片編號版面配置區 6">
            <a:extLst>
              <a:ext uri="{FF2B5EF4-FFF2-40B4-BE49-F238E27FC236}">
                <a16:creationId xmlns:a16="http://schemas.microsoft.com/office/drawing/2014/main" id="{FBB6AB41-1FC0-04D3-13EE-1F337C8ACFDE}"/>
              </a:ext>
            </a:extLst>
          </p:cNvPr>
          <p:cNvSpPr>
            <a:spLocks noGrp="1"/>
          </p:cNvSpPr>
          <p:nvPr>
            <p:ph type="sldNum" sz="quarter" idx="12"/>
          </p:nvPr>
        </p:nvSpPr>
        <p:spPr/>
        <p:txBody>
          <a:bodyPr/>
          <a:lstStyle/>
          <a:p>
            <a:fld id="{86967415-04EE-41F6-AD6F-BF9F33210A12}" type="slidenum">
              <a:rPr lang="zh-CN" altLang="en-US" smtClean="0"/>
              <a:t>‹#›</a:t>
            </a:fld>
            <a:endParaRPr lang="zh-CN" altLang="en-US"/>
          </a:p>
        </p:txBody>
      </p:sp>
    </p:spTree>
    <p:extLst>
      <p:ext uri="{BB962C8B-B14F-4D97-AF65-F5344CB8AC3E}">
        <p14:creationId xmlns:p14="http://schemas.microsoft.com/office/powerpoint/2010/main" val="17020413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5DDDB3E-BFA9-EC93-40D2-EBFF1346DD5A}"/>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endParaRPr lang="zh-CN" altLang="en-US"/>
          </a:p>
        </p:txBody>
      </p:sp>
      <p:sp>
        <p:nvSpPr>
          <p:cNvPr id="3" name="圖片版面配置區 2">
            <a:extLst>
              <a:ext uri="{FF2B5EF4-FFF2-40B4-BE49-F238E27FC236}">
                <a16:creationId xmlns:a16="http://schemas.microsoft.com/office/drawing/2014/main" id="{33229165-DD51-551D-70A1-9FA20ED4EE5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字版面配置區 3">
            <a:extLst>
              <a:ext uri="{FF2B5EF4-FFF2-40B4-BE49-F238E27FC236}">
                <a16:creationId xmlns:a16="http://schemas.microsoft.com/office/drawing/2014/main" id="{B23FF403-7830-C870-7728-C5FEB3DB82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9D95A6F8-7F3C-1BBA-CE7E-A07A0AE20A43}"/>
              </a:ext>
            </a:extLst>
          </p:cNvPr>
          <p:cNvSpPr>
            <a:spLocks noGrp="1"/>
          </p:cNvSpPr>
          <p:nvPr>
            <p:ph type="dt" sz="half" idx="10"/>
          </p:nvPr>
        </p:nvSpPr>
        <p:spPr/>
        <p:txBody>
          <a:bodyPr/>
          <a:lstStyle/>
          <a:p>
            <a:fld id="{1A876303-028F-4F18-A092-8880BFF95F6A}" type="datetimeFigureOut">
              <a:rPr lang="zh-CN" altLang="en-US" smtClean="0"/>
              <a:t>2026/8/16</a:t>
            </a:fld>
            <a:endParaRPr lang="zh-CN" altLang="en-US"/>
          </a:p>
        </p:txBody>
      </p:sp>
      <p:sp>
        <p:nvSpPr>
          <p:cNvPr id="6" name="頁尾版面配置區 5">
            <a:extLst>
              <a:ext uri="{FF2B5EF4-FFF2-40B4-BE49-F238E27FC236}">
                <a16:creationId xmlns:a16="http://schemas.microsoft.com/office/drawing/2014/main" id="{90000637-C6DA-9617-702B-95384453C12D}"/>
              </a:ext>
            </a:extLst>
          </p:cNvPr>
          <p:cNvSpPr>
            <a:spLocks noGrp="1"/>
          </p:cNvSpPr>
          <p:nvPr>
            <p:ph type="ftr" sz="quarter" idx="11"/>
          </p:nvPr>
        </p:nvSpPr>
        <p:spPr/>
        <p:txBody>
          <a:bodyPr/>
          <a:lstStyle/>
          <a:p>
            <a:endParaRPr lang="zh-CN" altLang="en-US"/>
          </a:p>
        </p:txBody>
      </p:sp>
      <p:sp>
        <p:nvSpPr>
          <p:cNvPr id="7" name="投影片編號版面配置區 6">
            <a:extLst>
              <a:ext uri="{FF2B5EF4-FFF2-40B4-BE49-F238E27FC236}">
                <a16:creationId xmlns:a16="http://schemas.microsoft.com/office/drawing/2014/main" id="{07F25F5B-ED71-3AB0-3345-5C0D78C23502}"/>
              </a:ext>
            </a:extLst>
          </p:cNvPr>
          <p:cNvSpPr>
            <a:spLocks noGrp="1"/>
          </p:cNvSpPr>
          <p:nvPr>
            <p:ph type="sldNum" sz="quarter" idx="12"/>
          </p:nvPr>
        </p:nvSpPr>
        <p:spPr/>
        <p:txBody>
          <a:bodyPr/>
          <a:lstStyle/>
          <a:p>
            <a:fld id="{86967415-04EE-41F6-AD6F-BF9F33210A12}" type="slidenum">
              <a:rPr lang="zh-CN" altLang="en-US" smtClean="0"/>
              <a:t>‹#›</a:t>
            </a:fld>
            <a:endParaRPr lang="zh-CN" altLang="en-US"/>
          </a:p>
        </p:txBody>
      </p:sp>
    </p:spTree>
    <p:extLst>
      <p:ext uri="{BB962C8B-B14F-4D97-AF65-F5344CB8AC3E}">
        <p14:creationId xmlns:p14="http://schemas.microsoft.com/office/powerpoint/2010/main" val="13807698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5FD921B-62CB-A38B-77CC-E0CB92152BA8}"/>
              </a:ext>
            </a:extLst>
          </p:cNvPr>
          <p:cNvSpPr>
            <a:spLocks noGrp="1"/>
          </p:cNvSpPr>
          <p:nvPr>
            <p:ph type="title"/>
          </p:nvPr>
        </p:nvSpPr>
        <p:spPr/>
        <p:txBody>
          <a:bodyPr/>
          <a:lstStyle/>
          <a:p>
            <a:r>
              <a:rPr lang="zh-TW" altLang="en-US"/>
              <a:t>按一下以編輯母片標題樣式</a:t>
            </a:r>
            <a:endParaRPr lang="zh-CN" altLang="en-US"/>
          </a:p>
        </p:txBody>
      </p:sp>
      <p:sp>
        <p:nvSpPr>
          <p:cNvPr id="3" name="直排文字版面配置區 2">
            <a:extLst>
              <a:ext uri="{FF2B5EF4-FFF2-40B4-BE49-F238E27FC236}">
                <a16:creationId xmlns:a16="http://schemas.microsoft.com/office/drawing/2014/main" id="{06D31F93-61CD-A831-64EF-165985517A50}"/>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CN" altLang="en-US"/>
          </a:p>
        </p:txBody>
      </p:sp>
      <p:sp>
        <p:nvSpPr>
          <p:cNvPr id="4" name="日期版面配置區 3">
            <a:extLst>
              <a:ext uri="{FF2B5EF4-FFF2-40B4-BE49-F238E27FC236}">
                <a16:creationId xmlns:a16="http://schemas.microsoft.com/office/drawing/2014/main" id="{B770A027-F6D5-A609-F340-65B38A79CED5}"/>
              </a:ext>
            </a:extLst>
          </p:cNvPr>
          <p:cNvSpPr>
            <a:spLocks noGrp="1"/>
          </p:cNvSpPr>
          <p:nvPr>
            <p:ph type="dt" sz="half" idx="10"/>
          </p:nvPr>
        </p:nvSpPr>
        <p:spPr/>
        <p:txBody>
          <a:bodyPr/>
          <a:lstStyle/>
          <a:p>
            <a:fld id="{1A876303-028F-4F18-A092-8880BFF95F6A}" type="datetimeFigureOut">
              <a:rPr lang="zh-CN" altLang="en-US" smtClean="0"/>
              <a:t>2026/8/16</a:t>
            </a:fld>
            <a:endParaRPr lang="zh-CN" altLang="en-US"/>
          </a:p>
        </p:txBody>
      </p:sp>
      <p:sp>
        <p:nvSpPr>
          <p:cNvPr id="5" name="頁尾版面配置區 4">
            <a:extLst>
              <a:ext uri="{FF2B5EF4-FFF2-40B4-BE49-F238E27FC236}">
                <a16:creationId xmlns:a16="http://schemas.microsoft.com/office/drawing/2014/main" id="{E4A5EDA4-6AAD-8DEC-B852-0ACA0DEAD77E}"/>
              </a:ext>
            </a:extLst>
          </p:cNvPr>
          <p:cNvSpPr>
            <a:spLocks noGrp="1"/>
          </p:cNvSpPr>
          <p:nvPr>
            <p:ph type="ftr" sz="quarter" idx="11"/>
          </p:nvPr>
        </p:nvSpPr>
        <p:spPr/>
        <p:txBody>
          <a:bodyPr/>
          <a:lstStyle/>
          <a:p>
            <a:endParaRPr lang="zh-CN" altLang="en-US"/>
          </a:p>
        </p:txBody>
      </p:sp>
      <p:sp>
        <p:nvSpPr>
          <p:cNvPr id="6" name="投影片編號版面配置區 5">
            <a:extLst>
              <a:ext uri="{FF2B5EF4-FFF2-40B4-BE49-F238E27FC236}">
                <a16:creationId xmlns:a16="http://schemas.microsoft.com/office/drawing/2014/main" id="{E3B9CD9A-F3FA-E1E8-3D25-1DAB25B5FB38}"/>
              </a:ext>
            </a:extLst>
          </p:cNvPr>
          <p:cNvSpPr>
            <a:spLocks noGrp="1"/>
          </p:cNvSpPr>
          <p:nvPr>
            <p:ph type="sldNum" sz="quarter" idx="12"/>
          </p:nvPr>
        </p:nvSpPr>
        <p:spPr/>
        <p:txBody>
          <a:bodyPr/>
          <a:lstStyle/>
          <a:p>
            <a:fld id="{86967415-04EE-41F6-AD6F-BF9F33210A12}" type="slidenum">
              <a:rPr lang="zh-CN" altLang="en-US" smtClean="0"/>
              <a:t>‹#›</a:t>
            </a:fld>
            <a:endParaRPr lang="zh-CN" altLang="en-US"/>
          </a:p>
        </p:txBody>
      </p:sp>
    </p:spTree>
    <p:extLst>
      <p:ext uri="{BB962C8B-B14F-4D97-AF65-F5344CB8AC3E}">
        <p14:creationId xmlns:p14="http://schemas.microsoft.com/office/powerpoint/2010/main" val="12763263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A1B9FC72-3568-AFA7-A462-546BFB8844F7}"/>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endParaRPr lang="zh-CN" altLang="en-US"/>
          </a:p>
        </p:txBody>
      </p:sp>
      <p:sp>
        <p:nvSpPr>
          <p:cNvPr id="3" name="直排文字版面配置區 2">
            <a:extLst>
              <a:ext uri="{FF2B5EF4-FFF2-40B4-BE49-F238E27FC236}">
                <a16:creationId xmlns:a16="http://schemas.microsoft.com/office/drawing/2014/main" id="{BB0224A6-22F9-96F8-7BCB-F9F958DBC293}"/>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CN" altLang="en-US"/>
          </a:p>
        </p:txBody>
      </p:sp>
      <p:sp>
        <p:nvSpPr>
          <p:cNvPr id="4" name="日期版面配置區 3">
            <a:extLst>
              <a:ext uri="{FF2B5EF4-FFF2-40B4-BE49-F238E27FC236}">
                <a16:creationId xmlns:a16="http://schemas.microsoft.com/office/drawing/2014/main" id="{ACD0A21B-6829-45CC-7A00-B4E6CFF91AE1}"/>
              </a:ext>
            </a:extLst>
          </p:cNvPr>
          <p:cNvSpPr>
            <a:spLocks noGrp="1"/>
          </p:cNvSpPr>
          <p:nvPr>
            <p:ph type="dt" sz="half" idx="10"/>
          </p:nvPr>
        </p:nvSpPr>
        <p:spPr/>
        <p:txBody>
          <a:bodyPr/>
          <a:lstStyle/>
          <a:p>
            <a:fld id="{1A876303-028F-4F18-A092-8880BFF95F6A}" type="datetimeFigureOut">
              <a:rPr lang="zh-CN" altLang="en-US" smtClean="0"/>
              <a:t>2026/8/16</a:t>
            </a:fld>
            <a:endParaRPr lang="zh-CN" altLang="en-US"/>
          </a:p>
        </p:txBody>
      </p:sp>
      <p:sp>
        <p:nvSpPr>
          <p:cNvPr id="5" name="頁尾版面配置區 4">
            <a:extLst>
              <a:ext uri="{FF2B5EF4-FFF2-40B4-BE49-F238E27FC236}">
                <a16:creationId xmlns:a16="http://schemas.microsoft.com/office/drawing/2014/main" id="{75F9C56C-8A48-B646-5675-CEC28D0BD86E}"/>
              </a:ext>
            </a:extLst>
          </p:cNvPr>
          <p:cNvSpPr>
            <a:spLocks noGrp="1"/>
          </p:cNvSpPr>
          <p:nvPr>
            <p:ph type="ftr" sz="quarter" idx="11"/>
          </p:nvPr>
        </p:nvSpPr>
        <p:spPr/>
        <p:txBody>
          <a:bodyPr/>
          <a:lstStyle/>
          <a:p>
            <a:endParaRPr lang="zh-CN" altLang="en-US"/>
          </a:p>
        </p:txBody>
      </p:sp>
      <p:sp>
        <p:nvSpPr>
          <p:cNvPr id="6" name="投影片編號版面配置區 5">
            <a:extLst>
              <a:ext uri="{FF2B5EF4-FFF2-40B4-BE49-F238E27FC236}">
                <a16:creationId xmlns:a16="http://schemas.microsoft.com/office/drawing/2014/main" id="{032ABA23-B333-1A72-CBD5-DD3C9D96E941}"/>
              </a:ext>
            </a:extLst>
          </p:cNvPr>
          <p:cNvSpPr>
            <a:spLocks noGrp="1"/>
          </p:cNvSpPr>
          <p:nvPr>
            <p:ph type="sldNum" sz="quarter" idx="12"/>
          </p:nvPr>
        </p:nvSpPr>
        <p:spPr/>
        <p:txBody>
          <a:bodyPr/>
          <a:lstStyle/>
          <a:p>
            <a:fld id="{86967415-04EE-41F6-AD6F-BF9F33210A12}" type="slidenum">
              <a:rPr lang="zh-CN" altLang="en-US" smtClean="0"/>
              <a:t>‹#›</a:t>
            </a:fld>
            <a:endParaRPr lang="zh-CN" altLang="en-US"/>
          </a:p>
        </p:txBody>
      </p:sp>
    </p:spTree>
    <p:extLst>
      <p:ext uri="{BB962C8B-B14F-4D97-AF65-F5344CB8AC3E}">
        <p14:creationId xmlns:p14="http://schemas.microsoft.com/office/powerpoint/2010/main" val="36298190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8285AE91-B641-810F-0F15-464C4C63EC8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endParaRPr lang="zh-CN" altLang="en-US"/>
          </a:p>
        </p:txBody>
      </p:sp>
      <p:sp>
        <p:nvSpPr>
          <p:cNvPr id="3" name="文字版面配置區 2">
            <a:extLst>
              <a:ext uri="{FF2B5EF4-FFF2-40B4-BE49-F238E27FC236}">
                <a16:creationId xmlns:a16="http://schemas.microsoft.com/office/drawing/2014/main" id="{AEB8FC03-E25E-9E0A-6B4E-25F47A17368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CN" altLang="en-US"/>
          </a:p>
        </p:txBody>
      </p:sp>
      <p:sp>
        <p:nvSpPr>
          <p:cNvPr id="4" name="日期版面配置區 3">
            <a:extLst>
              <a:ext uri="{FF2B5EF4-FFF2-40B4-BE49-F238E27FC236}">
                <a16:creationId xmlns:a16="http://schemas.microsoft.com/office/drawing/2014/main" id="{B8CACE35-9B60-6144-DC2F-EF07CAD18FD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A876303-028F-4F18-A092-8880BFF95F6A}" type="datetimeFigureOut">
              <a:rPr lang="zh-CN" altLang="en-US" smtClean="0"/>
              <a:t>2026/8/16</a:t>
            </a:fld>
            <a:endParaRPr lang="zh-CN" altLang="en-US"/>
          </a:p>
        </p:txBody>
      </p:sp>
      <p:sp>
        <p:nvSpPr>
          <p:cNvPr id="5" name="頁尾版面配置區 4">
            <a:extLst>
              <a:ext uri="{FF2B5EF4-FFF2-40B4-BE49-F238E27FC236}">
                <a16:creationId xmlns:a16="http://schemas.microsoft.com/office/drawing/2014/main" id="{CCFAAA27-BEB8-C77D-18BB-3C0CFCFE332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投影片編號版面配置區 5">
            <a:extLst>
              <a:ext uri="{FF2B5EF4-FFF2-40B4-BE49-F238E27FC236}">
                <a16:creationId xmlns:a16="http://schemas.microsoft.com/office/drawing/2014/main" id="{167C6FC2-D213-DD87-0996-199ACE1902F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6967415-04EE-41F6-AD6F-BF9F33210A12}" type="slidenum">
              <a:rPr lang="zh-CN" altLang="en-US" smtClean="0"/>
              <a:t>‹#›</a:t>
            </a:fld>
            <a:endParaRPr lang="zh-CN" altLang="en-US"/>
          </a:p>
        </p:txBody>
      </p:sp>
    </p:spTree>
    <p:extLst>
      <p:ext uri="{BB962C8B-B14F-4D97-AF65-F5344CB8AC3E}">
        <p14:creationId xmlns:p14="http://schemas.microsoft.com/office/powerpoint/2010/main" val="12802365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文字方塊 1">
            <a:extLst>
              <a:ext uri="{FF2B5EF4-FFF2-40B4-BE49-F238E27FC236}">
                <a16:creationId xmlns:a16="http://schemas.microsoft.com/office/drawing/2014/main" id="{46F03167-24A5-1299-D106-D8CE0B2BED4D}"/>
              </a:ext>
            </a:extLst>
          </p:cNvPr>
          <p:cNvSpPr txBox="1"/>
          <p:nvPr/>
        </p:nvSpPr>
        <p:spPr>
          <a:xfrm>
            <a:off x="533400" y="304800"/>
            <a:ext cx="4572000" cy="276999"/>
          </a:xfrm>
          <a:prstGeom prst="rect">
            <a:avLst/>
          </a:prstGeom>
          <a:noFill/>
        </p:spPr>
        <p:txBody>
          <a:bodyPr vert="horz" wrap="square" lIns="0" tIns="0" rIns="0" bIns="0" rtlCol="0" anchor="t">
            <a:noAutofit/>
          </a:bodyPr>
          <a:lstStyle/>
          <a:p>
            <a:r>
              <a:rPr lang="en-US" altLang="zh-CN" sz="1200" b="1">
                <a:solidFill>
                  <a:srgbClr val="545454"/>
                </a:solidFill>
                <a:latin typeface="Inter"/>
              </a:rPr>
              <a:t>CAPSTONE CONTRIBUTION</a:t>
            </a:r>
            <a:endParaRPr lang="zh-CN" altLang="en-US" sz="1200" b="1">
              <a:solidFill>
                <a:srgbClr val="545454"/>
              </a:solidFill>
              <a:latin typeface="Inter"/>
            </a:endParaRPr>
          </a:p>
        </p:txBody>
      </p:sp>
      <p:sp>
        <p:nvSpPr>
          <p:cNvPr id="3" name="文字方塊 2">
            <a:extLst>
              <a:ext uri="{FF2B5EF4-FFF2-40B4-BE49-F238E27FC236}">
                <a16:creationId xmlns:a16="http://schemas.microsoft.com/office/drawing/2014/main" id="{02CDCE77-2100-C9EC-3A7B-4864087089E0}"/>
              </a:ext>
            </a:extLst>
          </p:cNvPr>
          <p:cNvSpPr txBox="1"/>
          <p:nvPr/>
        </p:nvSpPr>
        <p:spPr>
          <a:xfrm>
            <a:off x="10998200" y="6413500"/>
            <a:ext cx="660400" cy="276999"/>
          </a:xfrm>
          <a:prstGeom prst="rect">
            <a:avLst/>
          </a:prstGeom>
          <a:noFill/>
        </p:spPr>
        <p:txBody>
          <a:bodyPr vert="horz" wrap="square" lIns="0" tIns="0" rIns="0" bIns="0" rtlCol="0" anchor="t">
            <a:noAutofit/>
          </a:bodyPr>
          <a:lstStyle/>
          <a:p>
            <a:pPr algn="r"/>
            <a:r>
              <a:rPr lang="en-US" altLang="zh-CN" sz="1100">
                <a:solidFill>
                  <a:srgbClr val="545454"/>
                </a:solidFill>
                <a:latin typeface="JetBrains Mono"/>
              </a:rPr>
              <a:t>01</a:t>
            </a:r>
            <a:endParaRPr lang="zh-CN" altLang="en-US" sz="1100">
              <a:solidFill>
                <a:srgbClr val="545454"/>
              </a:solidFill>
              <a:latin typeface="JetBrains Mono"/>
            </a:endParaRPr>
          </a:p>
        </p:txBody>
      </p:sp>
      <p:cxnSp>
        <p:nvCxnSpPr>
          <p:cNvPr id="4" name="直線接點 3">
            <a:extLst>
              <a:ext uri="{FF2B5EF4-FFF2-40B4-BE49-F238E27FC236}">
                <a16:creationId xmlns:a16="http://schemas.microsoft.com/office/drawing/2014/main" id="{44EFB662-5972-148D-C336-02415E3E423A}"/>
              </a:ext>
            </a:extLst>
          </p:cNvPr>
          <p:cNvCxnSpPr/>
          <p:nvPr/>
        </p:nvCxnSpPr>
        <p:spPr>
          <a:xfrm>
            <a:off x="533400" y="6299200"/>
            <a:ext cx="11125200" cy="0"/>
          </a:xfrm>
          <a:prstGeom prst="line">
            <a:avLst/>
          </a:prstGeom>
          <a:ln w="9525">
            <a:solidFill>
              <a:srgbClr val="D4D4D4"/>
            </a:solidFill>
          </a:ln>
        </p:spPr>
        <p:style>
          <a:lnRef idx="2">
            <a:schemeClr val="accent1"/>
          </a:lnRef>
          <a:fillRef idx="0">
            <a:schemeClr val="accent1"/>
          </a:fillRef>
          <a:effectRef idx="1">
            <a:schemeClr val="accent1"/>
          </a:effectRef>
          <a:fontRef idx="minor">
            <a:schemeClr val="tx1"/>
          </a:fontRef>
        </p:style>
      </p:cxnSp>
      <p:sp>
        <p:nvSpPr>
          <p:cNvPr id="5" name="文字方塊 4">
            <a:extLst>
              <a:ext uri="{FF2B5EF4-FFF2-40B4-BE49-F238E27FC236}">
                <a16:creationId xmlns:a16="http://schemas.microsoft.com/office/drawing/2014/main" id="{1F51BB3B-6071-0C38-77EE-03C877959381}"/>
              </a:ext>
            </a:extLst>
          </p:cNvPr>
          <p:cNvSpPr txBox="1"/>
          <p:nvPr/>
        </p:nvSpPr>
        <p:spPr>
          <a:xfrm>
            <a:off x="533400" y="723900"/>
            <a:ext cx="11049000" cy="276999"/>
          </a:xfrm>
          <a:prstGeom prst="rect">
            <a:avLst/>
          </a:prstGeom>
          <a:noFill/>
        </p:spPr>
        <p:txBody>
          <a:bodyPr vert="horz" wrap="square" lIns="0" tIns="0" rIns="0" bIns="0" rtlCol="0" anchor="t">
            <a:noAutofit/>
          </a:bodyPr>
          <a:lstStyle/>
          <a:p>
            <a:r>
              <a:rPr lang="en-US" altLang="zh-CN" sz="3800">
                <a:solidFill>
                  <a:srgbClr val="2A1A0E"/>
                </a:solidFill>
                <a:latin typeface="EB Garamond" panose="00000500000000000000" pitchFamily="2" charset="0"/>
              </a:rPr>
              <a:t>I built two checks that catch silent failures</a:t>
            </a:r>
            <a:endParaRPr lang="zh-CN" altLang="en-US" sz="3800">
              <a:solidFill>
                <a:srgbClr val="2A1A0E"/>
              </a:solidFill>
              <a:latin typeface="EB Garamond" panose="00000500000000000000" pitchFamily="2" charset="0"/>
            </a:endParaRPr>
          </a:p>
        </p:txBody>
      </p:sp>
      <p:cxnSp>
        <p:nvCxnSpPr>
          <p:cNvPr id="6" name="直線接點 5">
            <a:extLst>
              <a:ext uri="{FF2B5EF4-FFF2-40B4-BE49-F238E27FC236}">
                <a16:creationId xmlns:a16="http://schemas.microsoft.com/office/drawing/2014/main" id="{92E6AF2B-861E-A081-2824-D44707038743}"/>
              </a:ext>
            </a:extLst>
          </p:cNvPr>
          <p:cNvCxnSpPr/>
          <p:nvPr/>
        </p:nvCxnSpPr>
        <p:spPr>
          <a:xfrm>
            <a:off x="533400" y="1600200"/>
            <a:ext cx="1600200" cy="0"/>
          </a:xfrm>
          <a:prstGeom prst="line">
            <a:avLst/>
          </a:prstGeom>
          <a:ln w="50800">
            <a:solidFill>
              <a:srgbClr val="C8102E"/>
            </a:solidFill>
          </a:ln>
        </p:spPr>
        <p:style>
          <a:lnRef idx="2">
            <a:schemeClr val="accent1"/>
          </a:lnRef>
          <a:fillRef idx="0">
            <a:schemeClr val="accent1"/>
          </a:fillRef>
          <a:effectRef idx="1">
            <a:schemeClr val="accent1"/>
          </a:effectRef>
          <a:fontRef idx="minor">
            <a:schemeClr val="tx1"/>
          </a:fontRef>
        </p:style>
      </p:cxnSp>
      <p:sp>
        <p:nvSpPr>
          <p:cNvPr id="7" name="文字方塊 6">
            <a:extLst>
              <a:ext uri="{FF2B5EF4-FFF2-40B4-BE49-F238E27FC236}">
                <a16:creationId xmlns:a16="http://schemas.microsoft.com/office/drawing/2014/main" id="{034D4D34-011F-B0B0-CADB-AD9D9FD14694}"/>
              </a:ext>
            </a:extLst>
          </p:cNvPr>
          <p:cNvSpPr txBox="1"/>
          <p:nvPr/>
        </p:nvSpPr>
        <p:spPr>
          <a:xfrm>
            <a:off x="533400" y="1828800"/>
            <a:ext cx="4953000" cy="276999"/>
          </a:xfrm>
          <a:prstGeom prst="rect">
            <a:avLst/>
          </a:prstGeom>
          <a:noFill/>
        </p:spPr>
        <p:txBody>
          <a:bodyPr vert="horz" wrap="square" lIns="0" tIns="0" rIns="0" bIns="0" rtlCol="0" anchor="t">
            <a:noAutofit/>
          </a:bodyPr>
          <a:lstStyle/>
          <a:p>
            <a:r>
              <a:rPr lang="en-US" altLang="zh-CN" sz="2000">
                <a:solidFill>
                  <a:srgbClr val="545454"/>
                </a:solidFill>
                <a:latin typeface="Inter"/>
              </a:rPr>
              <a:t>PDF extraction becomes inspectable. Hard gates stay hard.</a:t>
            </a:r>
            <a:endParaRPr lang="zh-CN" altLang="en-US" sz="2000">
              <a:solidFill>
                <a:srgbClr val="545454"/>
              </a:solidFill>
              <a:latin typeface="Inter"/>
            </a:endParaRPr>
          </a:p>
        </p:txBody>
      </p:sp>
      <p:pic>
        <p:nvPicPr>
          <p:cNvPr id="9" name="圖片 8" descr="Cartoon showing a resume scanner, a scoring machine, two gates catching a software bug, and a human reviewer.">
            <a:extLst>
              <a:ext uri="{FF2B5EF4-FFF2-40B4-BE49-F238E27FC236}">
                <a16:creationId xmlns:a16="http://schemas.microsoft.com/office/drawing/2014/main" id="{3111C162-2C74-42A1-79CB-504CCE9617D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2667000"/>
            <a:ext cx="10795000" cy="3429000"/>
          </a:xfrm>
          <a:prstGeom prst="rect">
            <a:avLst/>
          </a:prstGeom>
        </p:spPr>
      </p:pic>
    </p:spTree>
    <p:extLst>
      <p:ext uri="{BB962C8B-B14F-4D97-AF65-F5344CB8AC3E}">
        <p14:creationId xmlns:p14="http://schemas.microsoft.com/office/powerpoint/2010/main" val="2037010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文字方塊 1">
            <a:extLst>
              <a:ext uri="{FF2B5EF4-FFF2-40B4-BE49-F238E27FC236}">
                <a16:creationId xmlns:a16="http://schemas.microsoft.com/office/drawing/2014/main" id="{635F4275-57F4-A793-9824-143F6BC2CB71}"/>
              </a:ext>
            </a:extLst>
          </p:cNvPr>
          <p:cNvSpPr txBox="1"/>
          <p:nvPr/>
        </p:nvSpPr>
        <p:spPr>
          <a:xfrm>
            <a:off x="533400" y="304800"/>
            <a:ext cx="4572000" cy="276999"/>
          </a:xfrm>
          <a:prstGeom prst="rect">
            <a:avLst/>
          </a:prstGeom>
          <a:noFill/>
        </p:spPr>
        <p:txBody>
          <a:bodyPr vert="horz" wrap="square" lIns="0" tIns="0" rIns="0" bIns="0" rtlCol="0" anchor="t">
            <a:noAutofit/>
          </a:bodyPr>
          <a:lstStyle/>
          <a:p>
            <a:r>
              <a:rPr lang="en-US" altLang="zh-CN" sz="1200" b="1">
                <a:solidFill>
                  <a:srgbClr val="545454"/>
                </a:solidFill>
                <a:latin typeface="Inter"/>
              </a:rPr>
              <a:t>HOW IT WORKS</a:t>
            </a:r>
            <a:endParaRPr lang="zh-CN" altLang="en-US" sz="1200" b="1">
              <a:solidFill>
                <a:srgbClr val="545454"/>
              </a:solidFill>
              <a:latin typeface="Inter"/>
            </a:endParaRPr>
          </a:p>
        </p:txBody>
      </p:sp>
      <p:sp>
        <p:nvSpPr>
          <p:cNvPr id="3" name="文字方塊 2">
            <a:extLst>
              <a:ext uri="{FF2B5EF4-FFF2-40B4-BE49-F238E27FC236}">
                <a16:creationId xmlns:a16="http://schemas.microsoft.com/office/drawing/2014/main" id="{50849E9B-41B6-854A-5C87-A845314E7D4B}"/>
              </a:ext>
            </a:extLst>
          </p:cNvPr>
          <p:cNvSpPr txBox="1"/>
          <p:nvPr/>
        </p:nvSpPr>
        <p:spPr>
          <a:xfrm>
            <a:off x="10998200" y="6413500"/>
            <a:ext cx="660400" cy="276999"/>
          </a:xfrm>
          <a:prstGeom prst="rect">
            <a:avLst/>
          </a:prstGeom>
          <a:noFill/>
        </p:spPr>
        <p:txBody>
          <a:bodyPr vert="horz" wrap="square" lIns="0" tIns="0" rIns="0" bIns="0" rtlCol="0" anchor="t">
            <a:noAutofit/>
          </a:bodyPr>
          <a:lstStyle/>
          <a:p>
            <a:pPr algn="r"/>
            <a:r>
              <a:rPr lang="en-US" altLang="zh-CN" sz="1100">
                <a:solidFill>
                  <a:srgbClr val="545454"/>
                </a:solidFill>
                <a:latin typeface="JetBrains Mono"/>
              </a:rPr>
              <a:t>02</a:t>
            </a:r>
            <a:endParaRPr lang="zh-CN" altLang="en-US" sz="1100">
              <a:solidFill>
                <a:srgbClr val="545454"/>
              </a:solidFill>
              <a:latin typeface="JetBrains Mono"/>
            </a:endParaRPr>
          </a:p>
        </p:txBody>
      </p:sp>
      <p:cxnSp>
        <p:nvCxnSpPr>
          <p:cNvPr id="4" name="直線接點 3">
            <a:extLst>
              <a:ext uri="{FF2B5EF4-FFF2-40B4-BE49-F238E27FC236}">
                <a16:creationId xmlns:a16="http://schemas.microsoft.com/office/drawing/2014/main" id="{6A89596C-6581-15A8-1828-AD223906B0C3}"/>
              </a:ext>
            </a:extLst>
          </p:cNvPr>
          <p:cNvCxnSpPr/>
          <p:nvPr/>
        </p:nvCxnSpPr>
        <p:spPr>
          <a:xfrm>
            <a:off x="533400" y="6299200"/>
            <a:ext cx="11125200" cy="0"/>
          </a:xfrm>
          <a:prstGeom prst="line">
            <a:avLst/>
          </a:prstGeom>
          <a:ln w="9525">
            <a:solidFill>
              <a:srgbClr val="D4D4D4"/>
            </a:solidFill>
          </a:ln>
        </p:spPr>
        <p:style>
          <a:lnRef idx="2">
            <a:schemeClr val="accent1"/>
          </a:lnRef>
          <a:fillRef idx="0">
            <a:schemeClr val="accent1"/>
          </a:fillRef>
          <a:effectRef idx="1">
            <a:schemeClr val="accent1"/>
          </a:effectRef>
          <a:fontRef idx="minor">
            <a:schemeClr val="tx1"/>
          </a:fontRef>
        </p:style>
      </p:cxnSp>
      <p:sp>
        <p:nvSpPr>
          <p:cNvPr id="5" name="文字方塊 4">
            <a:extLst>
              <a:ext uri="{FF2B5EF4-FFF2-40B4-BE49-F238E27FC236}">
                <a16:creationId xmlns:a16="http://schemas.microsoft.com/office/drawing/2014/main" id="{8CEBD8C6-8A2B-856F-281F-6F5F93C304BF}"/>
              </a:ext>
            </a:extLst>
          </p:cNvPr>
          <p:cNvSpPr txBox="1"/>
          <p:nvPr/>
        </p:nvSpPr>
        <p:spPr>
          <a:xfrm>
            <a:off x="533400" y="723900"/>
            <a:ext cx="11049000" cy="276999"/>
          </a:xfrm>
          <a:prstGeom prst="rect">
            <a:avLst/>
          </a:prstGeom>
          <a:noFill/>
        </p:spPr>
        <p:txBody>
          <a:bodyPr vert="horz" wrap="square" lIns="0" tIns="0" rIns="0" bIns="0" rtlCol="0" anchor="t">
            <a:noAutofit/>
          </a:bodyPr>
          <a:lstStyle/>
          <a:p>
            <a:r>
              <a:rPr lang="en-US" altLang="zh-CN" sz="3800">
                <a:solidFill>
                  <a:srgbClr val="2A1A0E"/>
                </a:solidFill>
                <a:latin typeface="EB Garamond" panose="00000500000000000000" pitchFamily="2" charset="0"/>
              </a:rPr>
              <a:t>One module reads PDFs; one protects hard gates</a:t>
            </a:r>
            <a:endParaRPr lang="zh-CN" altLang="en-US" sz="3800">
              <a:solidFill>
                <a:srgbClr val="2A1A0E"/>
              </a:solidFill>
              <a:latin typeface="EB Garamond" panose="00000500000000000000" pitchFamily="2" charset="0"/>
            </a:endParaRPr>
          </a:p>
        </p:txBody>
      </p:sp>
      <p:sp>
        <p:nvSpPr>
          <p:cNvPr id="6" name="文字方塊 5">
            <a:extLst>
              <a:ext uri="{FF2B5EF4-FFF2-40B4-BE49-F238E27FC236}">
                <a16:creationId xmlns:a16="http://schemas.microsoft.com/office/drawing/2014/main" id="{A92C7CA4-A6EE-D363-FC8B-997052157064}"/>
              </a:ext>
            </a:extLst>
          </p:cNvPr>
          <p:cNvSpPr txBox="1"/>
          <p:nvPr/>
        </p:nvSpPr>
        <p:spPr>
          <a:xfrm>
            <a:off x="533400" y="1676400"/>
            <a:ext cx="1600200" cy="276999"/>
          </a:xfrm>
          <a:prstGeom prst="rect">
            <a:avLst/>
          </a:prstGeom>
          <a:noFill/>
        </p:spPr>
        <p:txBody>
          <a:bodyPr vert="horz" wrap="square" lIns="0" tIns="0" rIns="0" bIns="0" rtlCol="0" anchor="t">
            <a:noAutofit/>
          </a:bodyPr>
          <a:lstStyle/>
          <a:p>
            <a:r>
              <a:rPr lang="en-US" altLang="zh-CN" sz="1200" b="1">
                <a:solidFill>
                  <a:srgbClr val="C8102E"/>
                </a:solidFill>
                <a:latin typeface="Inter"/>
              </a:rPr>
              <a:t>ATS PASTE-TEST</a:t>
            </a:r>
            <a:endParaRPr lang="zh-CN" altLang="en-US" sz="1200" b="1">
              <a:solidFill>
                <a:srgbClr val="C8102E"/>
              </a:solidFill>
              <a:latin typeface="Inter"/>
            </a:endParaRPr>
          </a:p>
        </p:txBody>
      </p:sp>
      <p:sp>
        <p:nvSpPr>
          <p:cNvPr id="7" name="矩形 6">
            <a:extLst>
              <a:ext uri="{FF2B5EF4-FFF2-40B4-BE49-F238E27FC236}">
                <a16:creationId xmlns:a16="http://schemas.microsoft.com/office/drawing/2014/main" id="{8EF96B91-A9E7-CE8D-D83B-8B4401D49900}"/>
              </a:ext>
            </a:extLst>
          </p:cNvPr>
          <p:cNvSpPr/>
          <p:nvPr/>
        </p:nvSpPr>
        <p:spPr>
          <a:xfrm>
            <a:off x="533400" y="2082800"/>
            <a:ext cx="1854200" cy="1041400"/>
          </a:xfrm>
          <a:prstGeom prst="rect">
            <a:avLst/>
          </a:prstGeom>
          <a:solidFill>
            <a:srgbClr val="FFFFFF"/>
          </a:solidFill>
          <a:ln w="19050">
            <a:solidFill>
              <a:srgbClr val="2A1A0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字方塊 7">
            <a:extLst>
              <a:ext uri="{FF2B5EF4-FFF2-40B4-BE49-F238E27FC236}">
                <a16:creationId xmlns:a16="http://schemas.microsoft.com/office/drawing/2014/main" id="{9F228B41-9B1B-5037-C16D-BD32C6E0ED98}"/>
              </a:ext>
            </a:extLst>
          </p:cNvPr>
          <p:cNvSpPr txBox="1"/>
          <p:nvPr/>
        </p:nvSpPr>
        <p:spPr>
          <a:xfrm>
            <a:off x="660400" y="2235200"/>
            <a:ext cx="1600200" cy="276999"/>
          </a:xfrm>
          <a:prstGeom prst="rect">
            <a:avLst/>
          </a:prstGeom>
          <a:noFill/>
        </p:spPr>
        <p:txBody>
          <a:bodyPr vert="horz" wrap="square" lIns="0" tIns="0" rIns="0" bIns="0" rtlCol="0" anchor="t">
            <a:noAutofit/>
          </a:bodyPr>
          <a:lstStyle/>
          <a:p>
            <a:pPr algn="ctr"/>
            <a:r>
              <a:rPr lang="en-US" altLang="zh-CN" b="1">
                <a:solidFill>
                  <a:srgbClr val="2A1A0E"/>
                </a:solidFill>
                <a:latin typeface="Inter"/>
              </a:rPr>
              <a:t>PDF / Markdown</a:t>
            </a:r>
            <a:endParaRPr lang="zh-CN" altLang="en-US" b="1">
              <a:solidFill>
                <a:srgbClr val="2A1A0E"/>
              </a:solidFill>
              <a:latin typeface="Inter"/>
            </a:endParaRPr>
          </a:p>
        </p:txBody>
      </p:sp>
      <p:cxnSp>
        <p:nvCxnSpPr>
          <p:cNvPr id="9" name="直線接點 8">
            <a:extLst>
              <a:ext uri="{FF2B5EF4-FFF2-40B4-BE49-F238E27FC236}">
                <a16:creationId xmlns:a16="http://schemas.microsoft.com/office/drawing/2014/main" id="{B836803E-98FB-916B-2FF2-7D9DB717BF19}"/>
              </a:ext>
            </a:extLst>
          </p:cNvPr>
          <p:cNvCxnSpPr/>
          <p:nvPr/>
        </p:nvCxnSpPr>
        <p:spPr>
          <a:xfrm>
            <a:off x="2463800" y="2603500"/>
            <a:ext cx="431800" cy="0"/>
          </a:xfrm>
          <a:prstGeom prst="line">
            <a:avLst/>
          </a:prstGeom>
          <a:ln w="25400">
            <a:solidFill>
              <a:srgbClr val="2A1A0E"/>
            </a:solidFill>
            <a:tailEnd type="arrow"/>
          </a:ln>
        </p:spPr>
        <p:style>
          <a:lnRef idx="2">
            <a:schemeClr val="accent1"/>
          </a:lnRef>
          <a:fillRef idx="0">
            <a:schemeClr val="accent1"/>
          </a:fillRef>
          <a:effectRef idx="1">
            <a:schemeClr val="accent1"/>
          </a:effectRef>
          <a:fontRef idx="minor">
            <a:schemeClr val="tx1"/>
          </a:fontRef>
        </p:style>
      </p:cxnSp>
      <p:sp>
        <p:nvSpPr>
          <p:cNvPr id="10" name="矩形 9">
            <a:extLst>
              <a:ext uri="{FF2B5EF4-FFF2-40B4-BE49-F238E27FC236}">
                <a16:creationId xmlns:a16="http://schemas.microsoft.com/office/drawing/2014/main" id="{202AA009-1DEB-4324-5CD8-30E440F571E9}"/>
              </a:ext>
            </a:extLst>
          </p:cNvPr>
          <p:cNvSpPr/>
          <p:nvPr/>
        </p:nvSpPr>
        <p:spPr>
          <a:xfrm>
            <a:off x="2971800" y="2082800"/>
            <a:ext cx="1854200" cy="1041400"/>
          </a:xfrm>
          <a:prstGeom prst="rect">
            <a:avLst/>
          </a:prstGeom>
          <a:solidFill>
            <a:srgbClr val="FFFFFF"/>
          </a:solidFill>
          <a:ln w="19050">
            <a:solidFill>
              <a:srgbClr val="2A1A0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字方塊 10">
            <a:extLst>
              <a:ext uri="{FF2B5EF4-FFF2-40B4-BE49-F238E27FC236}">
                <a16:creationId xmlns:a16="http://schemas.microsoft.com/office/drawing/2014/main" id="{6D14C437-90B4-60E7-2994-07BD2603F745}"/>
              </a:ext>
            </a:extLst>
          </p:cNvPr>
          <p:cNvSpPr txBox="1"/>
          <p:nvPr/>
        </p:nvSpPr>
        <p:spPr>
          <a:xfrm>
            <a:off x="3098800" y="2235200"/>
            <a:ext cx="1600200" cy="276999"/>
          </a:xfrm>
          <a:prstGeom prst="rect">
            <a:avLst/>
          </a:prstGeom>
          <a:noFill/>
        </p:spPr>
        <p:txBody>
          <a:bodyPr vert="horz" wrap="square" lIns="0" tIns="0" rIns="0" bIns="0" rtlCol="0" anchor="t">
            <a:noAutofit/>
          </a:bodyPr>
          <a:lstStyle/>
          <a:p>
            <a:pPr algn="ctr"/>
            <a:r>
              <a:rPr lang="en-US" altLang="zh-CN" b="1">
                <a:solidFill>
                  <a:srgbClr val="2A1A0E"/>
                </a:solidFill>
                <a:latin typeface="Inter"/>
              </a:rPr>
              <a:t>PDF.js</a:t>
            </a:r>
            <a:endParaRPr lang="zh-CN" altLang="en-US" b="1">
              <a:solidFill>
                <a:srgbClr val="2A1A0E"/>
              </a:solidFill>
              <a:latin typeface="Inter"/>
            </a:endParaRPr>
          </a:p>
        </p:txBody>
      </p:sp>
      <p:sp>
        <p:nvSpPr>
          <p:cNvPr id="12" name="文字方塊 11">
            <a:extLst>
              <a:ext uri="{FF2B5EF4-FFF2-40B4-BE49-F238E27FC236}">
                <a16:creationId xmlns:a16="http://schemas.microsoft.com/office/drawing/2014/main" id="{FFD699D2-FE44-2A6B-9C12-C2161F4670D3}"/>
              </a:ext>
            </a:extLst>
          </p:cNvPr>
          <p:cNvSpPr txBox="1"/>
          <p:nvPr/>
        </p:nvSpPr>
        <p:spPr>
          <a:xfrm>
            <a:off x="3073400" y="2628900"/>
            <a:ext cx="1651000" cy="276999"/>
          </a:xfrm>
          <a:prstGeom prst="rect">
            <a:avLst/>
          </a:prstGeom>
          <a:noFill/>
        </p:spPr>
        <p:txBody>
          <a:bodyPr vert="horz" wrap="square" lIns="0" tIns="0" rIns="0" bIns="0" rtlCol="0" anchor="t">
            <a:noAutofit/>
          </a:bodyPr>
          <a:lstStyle/>
          <a:p>
            <a:pPr algn="ctr"/>
            <a:r>
              <a:rPr lang="en-US" altLang="zh-CN" sz="1200">
                <a:solidFill>
                  <a:srgbClr val="545454"/>
                </a:solidFill>
                <a:latin typeface="JetBrains Mono"/>
              </a:rPr>
              <a:t>text layer</a:t>
            </a:r>
            <a:endParaRPr lang="zh-CN" altLang="en-US" sz="1200">
              <a:solidFill>
                <a:srgbClr val="545454"/>
              </a:solidFill>
              <a:latin typeface="JetBrains Mono"/>
            </a:endParaRPr>
          </a:p>
        </p:txBody>
      </p:sp>
      <p:cxnSp>
        <p:nvCxnSpPr>
          <p:cNvPr id="13" name="直線接點 12">
            <a:extLst>
              <a:ext uri="{FF2B5EF4-FFF2-40B4-BE49-F238E27FC236}">
                <a16:creationId xmlns:a16="http://schemas.microsoft.com/office/drawing/2014/main" id="{D9601F89-6442-EB22-0AC6-5199CC9DEE3D}"/>
              </a:ext>
            </a:extLst>
          </p:cNvPr>
          <p:cNvCxnSpPr/>
          <p:nvPr/>
        </p:nvCxnSpPr>
        <p:spPr>
          <a:xfrm>
            <a:off x="4902200" y="2603500"/>
            <a:ext cx="431800" cy="0"/>
          </a:xfrm>
          <a:prstGeom prst="line">
            <a:avLst/>
          </a:prstGeom>
          <a:ln w="25400">
            <a:solidFill>
              <a:srgbClr val="2A1A0E"/>
            </a:solidFill>
            <a:tailEnd type="arrow"/>
          </a:ln>
        </p:spPr>
        <p:style>
          <a:lnRef idx="2">
            <a:schemeClr val="accent1"/>
          </a:lnRef>
          <a:fillRef idx="0">
            <a:schemeClr val="accent1"/>
          </a:fillRef>
          <a:effectRef idx="1">
            <a:schemeClr val="accent1"/>
          </a:effectRef>
          <a:fontRef idx="minor">
            <a:schemeClr val="tx1"/>
          </a:fontRef>
        </p:style>
      </p:cxnSp>
      <p:sp>
        <p:nvSpPr>
          <p:cNvPr id="14" name="矩形 13">
            <a:extLst>
              <a:ext uri="{FF2B5EF4-FFF2-40B4-BE49-F238E27FC236}">
                <a16:creationId xmlns:a16="http://schemas.microsoft.com/office/drawing/2014/main" id="{3BEFE6E1-5EF6-8E53-2DC6-B61509E10300}"/>
              </a:ext>
            </a:extLst>
          </p:cNvPr>
          <p:cNvSpPr/>
          <p:nvPr/>
        </p:nvSpPr>
        <p:spPr>
          <a:xfrm>
            <a:off x="5410200" y="2082800"/>
            <a:ext cx="2413000" cy="1041400"/>
          </a:xfrm>
          <a:prstGeom prst="rect">
            <a:avLst/>
          </a:prstGeom>
          <a:solidFill>
            <a:srgbClr val="FFFFFF"/>
          </a:solidFill>
          <a:ln w="19050">
            <a:solidFill>
              <a:srgbClr val="2A1A0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字方塊 14">
            <a:extLst>
              <a:ext uri="{FF2B5EF4-FFF2-40B4-BE49-F238E27FC236}">
                <a16:creationId xmlns:a16="http://schemas.microsoft.com/office/drawing/2014/main" id="{78DE5BA0-1FAA-1401-1780-2613477C9B8A}"/>
              </a:ext>
            </a:extLst>
          </p:cNvPr>
          <p:cNvSpPr txBox="1"/>
          <p:nvPr/>
        </p:nvSpPr>
        <p:spPr>
          <a:xfrm>
            <a:off x="5537200" y="2235200"/>
            <a:ext cx="2159000" cy="276999"/>
          </a:xfrm>
          <a:prstGeom prst="rect">
            <a:avLst/>
          </a:prstGeom>
          <a:noFill/>
        </p:spPr>
        <p:txBody>
          <a:bodyPr vert="horz" wrap="square" lIns="0" tIns="0" rIns="0" bIns="0" rtlCol="0" anchor="t">
            <a:noAutofit/>
          </a:bodyPr>
          <a:lstStyle/>
          <a:p>
            <a:pPr algn="ctr"/>
            <a:r>
              <a:rPr lang="en-US" altLang="zh-CN" b="1">
                <a:solidFill>
                  <a:srgbClr val="2A1A0E"/>
                </a:solidFill>
                <a:latin typeface="Inter"/>
              </a:rPr>
              <a:t>Parser checks</a:t>
            </a:r>
            <a:endParaRPr lang="zh-CN" altLang="en-US" b="1">
              <a:solidFill>
                <a:srgbClr val="2A1A0E"/>
              </a:solidFill>
              <a:latin typeface="Inter"/>
            </a:endParaRPr>
          </a:p>
        </p:txBody>
      </p:sp>
      <p:sp>
        <p:nvSpPr>
          <p:cNvPr id="16" name="文字方塊 15">
            <a:extLst>
              <a:ext uri="{FF2B5EF4-FFF2-40B4-BE49-F238E27FC236}">
                <a16:creationId xmlns:a16="http://schemas.microsoft.com/office/drawing/2014/main" id="{E410F116-7538-A7D8-D83B-16F11B3F6528}"/>
              </a:ext>
            </a:extLst>
          </p:cNvPr>
          <p:cNvSpPr txBox="1"/>
          <p:nvPr/>
        </p:nvSpPr>
        <p:spPr>
          <a:xfrm>
            <a:off x="5511800" y="2628900"/>
            <a:ext cx="2209800" cy="276999"/>
          </a:xfrm>
          <a:prstGeom prst="rect">
            <a:avLst/>
          </a:prstGeom>
          <a:noFill/>
        </p:spPr>
        <p:txBody>
          <a:bodyPr vert="horz" wrap="square" lIns="0" tIns="0" rIns="0" bIns="0" rtlCol="0" anchor="t">
            <a:noAutofit/>
          </a:bodyPr>
          <a:lstStyle/>
          <a:p>
            <a:pPr algn="ctr"/>
            <a:r>
              <a:rPr lang="en-US" altLang="zh-CN" sz="1200">
                <a:solidFill>
                  <a:srgbClr val="545454"/>
                </a:solidFill>
                <a:latin typeface="JetBrains Mono"/>
              </a:rPr>
              <a:t>7 deterministic checks</a:t>
            </a:r>
            <a:endParaRPr lang="zh-CN" altLang="en-US" sz="1200">
              <a:solidFill>
                <a:srgbClr val="545454"/>
              </a:solidFill>
              <a:latin typeface="JetBrains Mono"/>
            </a:endParaRPr>
          </a:p>
        </p:txBody>
      </p:sp>
      <p:cxnSp>
        <p:nvCxnSpPr>
          <p:cNvPr id="17" name="直線接點 16">
            <a:extLst>
              <a:ext uri="{FF2B5EF4-FFF2-40B4-BE49-F238E27FC236}">
                <a16:creationId xmlns:a16="http://schemas.microsoft.com/office/drawing/2014/main" id="{64063658-17CF-9047-8465-B4B0A6F60BB8}"/>
              </a:ext>
            </a:extLst>
          </p:cNvPr>
          <p:cNvCxnSpPr/>
          <p:nvPr/>
        </p:nvCxnSpPr>
        <p:spPr>
          <a:xfrm>
            <a:off x="7899400" y="2603500"/>
            <a:ext cx="431800" cy="0"/>
          </a:xfrm>
          <a:prstGeom prst="line">
            <a:avLst/>
          </a:prstGeom>
          <a:ln w="25400">
            <a:solidFill>
              <a:srgbClr val="2A1A0E"/>
            </a:solidFill>
            <a:tailEnd type="arrow"/>
          </a:ln>
        </p:spPr>
        <p:style>
          <a:lnRef idx="2">
            <a:schemeClr val="accent1"/>
          </a:lnRef>
          <a:fillRef idx="0">
            <a:schemeClr val="accent1"/>
          </a:fillRef>
          <a:effectRef idx="1">
            <a:schemeClr val="accent1"/>
          </a:effectRef>
          <a:fontRef idx="minor">
            <a:schemeClr val="tx1"/>
          </a:fontRef>
        </p:style>
      </p:cxnSp>
      <p:sp>
        <p:nvSpPr>
          <p:cNvPr id="18" name="矩形 17">
            <a:extLst>
              <a:ext uri="{FF2B5EF4-FFF2-40B4-BE49-F238E27FC236}">
                <a16:creationId xmlns:a16="http://schemas.microsoft.com/office/drawing/2014/main" id="{90232A22-E37B-673F-E249-D0F733FC0919}"/>
              </a:ext>
            </a:extLst>
          </p:cNvPr>
          <p:cNvSpPr/>
          <p:nvPr/>
        </p:nvSpPr>
        <p:spPr>
          <a:xfrm>
            <a:off x="8407400" y="2082800"/>
            <a:ext cx="3251200" cy="1041400"/>
          </a:xfrm>
          <a:prstGeom prst="rect">
            <a:avLst/>
          </a:prstGeom>
          <a:solidFill>
            <a:srgbClr val="FFFFFF"/>
          </a:solidFill>
          <a:ln w="19050">
            <a:solidFill>
              <a:srgbClr val="2A1A0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文字方塊 18">
            <a:extLst>
              <a:ext uri="{FF2B5EF4-FFF2-40B4-BE49-F238E27FC236}">
                <a16:creationId xmlns:a16="http://schemas.microsoft.com/office/drawing/2014/main" id="{60EC630E-4B22-25E4-3EC8-05B50FB5BB14}"/>
              </a:ext>
            </a:extLst>
          </p:cNvPr>
          <p:cNvSpPr txBox="1"/>
          <p:nvPr/>
        </p:nvSpPr>
        <p:spPr>
          <a:xfrm>
            <a:off x="8534400" y="2235200"/>
            <a:ext cx="2997200" cy="276999"/>
          </a:xfrm>
          <a:prstGeom prst="rect">
            <a:avLst/>
          </a:prstGeom>
          <a:noFill/>
        </p:spPr>
        <p:txBody>
          <a:bodyPr vert="horz" wrap="square" lIns="0" tIns="0" rIns="0" bIns="0" rtlCol="0" anchor="t">
            <a:noAutofit/>
          </a:bodyPr>
          <a:lstStyle/>
          <a:p>
            <a:pPr algn="ctr"/>
            <a:r>
              <a:rPr lang="en-US" altLang="zh-CN" b="1">
                <a:solidFill>
                  <a:srgbClr val="2A1A0E"/>
                </a:solidFill>
                <a:latin typeface="Inter"/>
              </a:rPr>
              <a:t>Private audit</a:t>
            </a:r>
            <a:endParaRPr lang="zh-CN" altLang="en-US" b="1">
              <a:solidFill>
                <a:srgbClr val="2A1A0E"/>
              </a:solidFill>
              <a:latin typeface="Inter"/>
            </a:endParaRPr>
          </a:p>
        </p:txBody>
      </p:sp>
      <p:sp>
        <p:nvSpPr>
          <p:cNvPr id="20" name="文字方塊 19">
            <a:extLst>
              <a:ext uri="{FF2B5EF4-FFF2-40B4-BE49-F238E27FC236}">
                <a16:creationId xmlns:a16="http://schemas.microsoft.com/office/drawing/2014/main" id="{1A5C015D-332B-F80B-1A14-740666454663}"/>
              </a:ext>
            </a:extLst>
          </p:cNvPr>
          <p:cNvSpPr txBox="1"/>
          <p:nvPr/>
        </p:nvSpPr>
        <p:spPr>
          <a:xfrm>
            <a:off x="8509000" y="2628900"/>
            <a:ext cx="3048000" cy="276999"/>
          </a:xfrm>
          <a:prstGeom prst="rect">
            <a:avLst/>
          </a:prstGeom>
          <a:noFill/>
        </p:spPr>
        <p:txBody>
          <a:bodyPr vert="horz" wrap="square" lIns="0" tIns="0" rIns="0" bIns="0" rtlCol="0" anchor="t">
            <a:noAutofit/>
          </a:bodyPr>
          <a:lstStyle/>
          <a:p>
            <a:pPr algn="ctr"/>
            <a:r>
              <a:rPr lang="en-US" altLang="zh-CN" sz="1200">
                <a:solidFill>
                  <a:srgbClr val="545454"/>
                </a:solidFill>
                <a:latin typeface="JetBrains Mono"/>
              </a:rPr>
              <a:t>checks + inventory</a:t>
            </a:r>
            <a:endParaRPr lang="zh-CN" altLang="en-US" sz="1200">
              <a:solidFill>
                <a:srgbClr val="545454"/>
              </a:solidFill>
              <a:latin typeface="JetBrains Mono"/>
            </a:endParaRPr>
          </a:p>
        </p:txBody>
      </p:sp>
      <p:sp>
        <p:nvSpPr>
          <p:cNvPr id="21" name="文字方塊 20">
            <a:extLst>
              <a:ext uri="{FF2B5EF4-FFF2-40B4-BE49-F238E27FC236}">
                <a16:creationId xmlns:a16="http://schemas.microsoft.com/office/drawing/2014/main" id="{6E059CCD-C9C3-644E-EAE1-E80D5D444FCA}"/>
              </a:ext>
            </a:extLst>
          </p:cNvPr>
          <p:cNvSpPr txBox="1"/>
          <p:nvPr/>
        </p:nvSpPr>
        <p:spPr>
          <a:xfrm>
            <a:off x="533400" y="3530600"/>
            <a:ext cx="1905000" cy="276999"/>
          </a:xfrm>
          <a:prstGeom prst="rect">
            <a:avLst/>
          </a:prstGeom>
          <a:noFill/>
        </p:spPr>
        <p:txBody>
          <a:bodyPr vert="horz" wrap="square" lIns="0" tIns="0" rIns="0" bIns="0" rtlCol="0" anchor="t">
            <a:noAutofit/>
          </a:bodyPr>
          <a:lstStyle/>
          <a:p>
            <a:r>
              <a:rPr lang="en-US" altLang="zh-CN" sz="1200" b="1">
                <a:solidFill>
                  <a:srgbClr val="C8102E"/>
                </a:solidFill>
                <a:latin typeface="Inter"/>
              </a:rPr>
              <a:t>GATE HARNESS</a:t>
            </a:r>
            <a:endParaRPr lang="zh-CN" altLang="en-US" sz="1200" b="1">
              <a:solidFill>
                <a:srgbClr val="C8102E"/>
              </a:solidFill>
              <a:latin typeface="Inter"/>
            </a:endParaRPr>
          </a:p>
        </p:txBody>
      </p:sp>
      <p:sp>
        <p:nvSpPr>
          <p:cNvPr id="22" name="矩形 21">
            <a:extLst>
              <a:ext uri="{FF2B5EF4-FFF2-40B4-BE49-F238E27FC236}">
                <a16:creationId xmlns:a16="http://schemas.microsoft.com/office/drawing/2014/main" id="{7311A5B5-6EAA-8443-DB3E-FF06496AC295}"/>
              </a:ext>
            </a:extLst>
          </p:cNvPr>
          <p:cNvSpPr/>
          <p:nvPr/>
        </p:nvSpPr>
        <p:spPr>
          <a:xfrm>
            <a:off x="533400" y="3937000"/>
            <a:ext cx="2159000" cy="1041400"/>
          </a:xfrm>
          <a:prstGeom prst="rect">
            <a:avLst/>
          </a:prstGeom>
          <a:solidFill>
            <a:srgbClr val="FFFFFF"/>
          </a:solidFill>
          <a:ln w="19050">
            <a:solidFill>
              <a:srgbClr val="2A1A0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字方塊 22">
            <a:extLst>
              <a:ext uri="{FF2B5EF4-FFF2-40B4-BE49-F238E27FC236}">
                <a16:creationId xmlns:a16="http://schemas.microsoft.com/office/drawing/2014/main" id="{76A65F76-5212-793F-7855-8B926FA3C027}"/>
              </a:ext>
            </a:extLst>
          </p:cNvPr>
          <p:cNvSpPr txBox="1"/>
          <p:nvPr/>
        </p:nvSpPr>
        <p:spPr>
          <a:xfrm>
            <a:off x="660400" y="4089400"/>
            <a:ext cx="1905000" cy="276999"/>
          </a:xfrm>
          <a:prstGeom prst="rect">
            <a:avLst/>
          </a:prstGeom>
          <a:noFill/>
        </p:spPr>
        <p:txBody>
          <a:bodyPr vert="horz" wrap="square" lIns="0" tIns="0" rIns="0" bIns="0" rtlCol="0" anchor="t">
            <a:noAutofit/>
          </a:bodyPr>
          <a:lstStyle/>
          <a:p>
            <a:pPr algn="ctr"/>
            <a:r>
              <a:rPr lang="en-US" altLang="zh-CN" b="1">
                <a:solidFill>
                  <a:srgbClr val="2A1A0E"/>
                </a:solidFill>
                <a:latin typeface="Inter"/>
              </a:rPr>
              <a:t>Stored H-1B record</a:t>
            </a:r>
            <a:endParaRPr lang="zh-CN" altLang="en-US" b="1">
              <a:solidFill>
                <a:srgbClr val="2A1A0E"/>
              </a:solidFill>
              <a:latin typeface="Inter"/>
            </a:endParaRPr>
          </a:p>
        </p:txBody>
      </p:sp>
      <p:sp>
        <p:nvSpPr>
          <p:cNvPr id="24" name="文字方塊 23">
            <a:extLst>
              <a:ext uri="{FF2B5EF4-FFF2-40B4-BE49-F238E27FC236}">
                <a16:creationId xmlns:a16="http://schemas.microsoft.com/office/drawing/2014/main" id="{83F2D08A-CF15-EAEF-DD15-7941FE6AF701}"/>
              </a:ext>
            </a:extLst>
          </p:cNvPr>
          <p:cNvSpPr txBox="1"/>
          <p:nvPr/>
        </p:nvSpPr>
        <p:spPr>
          <a:xfrm>
            <a:off x="635000" y="4483100"/>
            <a:ext cx="1955800" cy="276999"/>
          </a:xfrm>
          <a:prstGeom prst="rect">
            <a:avLst/>
          </a:prstGeom>
          <a:noFill/>
        </p:spPr>
        <p:txBody>
          <a:bodyPr vert="horz" wrap="square" lIns="0" tIns="0" rIns="0" bIns="0" rtlCol="0" anchor="t">
            <a:noAutofit/>
          </a:bodyPr>
          <a:lstStyle/>
          <a:p>
            <a:pPr algn="ctr"/>
            <a:r>
              <a:rPr lang="en-US" altLang="zh-CN" sz="1200">
                <a:solidFill>
                  <a:srgbClr val="545454"/>
                </a:solidFill>
                <a:latin typeface="JetBrains Mono"/>
              </a:rPr>
              <a:t>historical proxy</a:t>
            </a:r>
            <a:endParaRPr lang="zh-CN" altLang="en-US" sz="1200">
              <a:solidFill>
                <a:srgbClr val="545454"/>
              </a:solidFill>
              <a:latin typeface="JetBrains Mono"/>
            </a:endParaRPr>
          </a:p>
        </p:txBody>
      </p:sp>
      <p:cxnSp>
        <p:nvCxnSpPr>
          <p:cNvPr id="25" name="直線接點 24">
            <a:extLst>
              <a:ext uri="{FF2B5EF4-FFF2-40B4-BE49-F238E27FC236}">
                <a16:creationId xmlns:a16="http://schemas.microsoft.com/office/drawing/2014/main" id="{6958D662-8FA7-5172-3FFC-E2E2245443AE}"/>
              </a:ext>
            </a:extLst>
          </p:cNvPr>
          <p:cNvCxnSpPr/>
          <p:nvPr/>
        </p:nvCxnSpPr>
        <p:spPr>
          <a:xfrm>
            <a:off x="2768600" y="4457700"/>
            <a:ext cx="431800" cy="0"/>
          </a:xfrm>
          <a:prstGeom prst="line">
            <a:avLst/>
          </a:prstGeom>
          <a:ln w="25400">
            <a:solidFill>
              <a:srgbClr val="2A1A0E"/>
            </a:solidFill>
            <a:tailEnd type="arrow"/>
          </a:ln>
        </p:spPr>
        <p:style>
          <a:lnRef idx="2">
            <a:schemeClr val="accent1"/>
          </a:lnRef>
          <a:fillRef idx="0">
            <a:schemeClr val="accent1"/>
          </a:fillRef>
          <a:effectRef idx="1">
            <a:schemeClr val="accent1"/>
          </a:effectRef>
          <a:fontRef idx="minor">
            <a:schemeClr val="tx1"/>
          </a:fontRef>
        </p:style>
      </p:cxnSp>
      <p:sp>
        <p:nvSpPr>
          <p:cNvPr id="26" name="矩形 25">
            <a:extLst>
              <a:ext uri="{FF2B5EF4-FFF2-40B4-BE49-F238E27FC236}">
                <a16:creationId xmlns:a16="http://schemas.microsoft.com/office/drawing/2014/main" id="{EB4573C3-D2E2-6140-5058-45F98B145878}"/>
              </a:ext>
            </a:extLst>
          </p:cNvPr>
          <p:cNvSpPr/>
          <p:nvPr/>
        </p:nvSpPr>
        <p:spPr>
          <a:xfrm>
            <a:off x="3276600" y="3937000"/>
            <a:ext cx="3581400" cy="1041400"/>
          </a:xfrm>
          <a:prstGeom prst="rect">
            <a:avLst/>
          </a:prstGeom>
          <a:solidFill>
            <a:srgbClr val="FFFFFF"/>
          </a:solidFill>
          <a:ln w="19050">
            <a:solidFill>
              <a:srgbClr val="2A1A0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文字方塊 26">
            <a:extLst>
              <a:ext uri="{FF2B5EF4-FFF2-40B4-BE49-F238E27FC236}">
                <a16:creationId xmlns:a16="http://schemas.microsoft.com/office/drawing/2014/main" id="{81B112C8-C3A0-09AC-C70E-05829ED0EEA6}"/>
              </a:ext>
            </a:extLst>
          </p:cNvPr>
          <p:cNvSpPr txBox="1"/>
          <p:nvPr/>
        </p:nvSpPr>
        <p:spPr>
          <a:xfrm>
            <a:off x="3403600" y="4089400"/>
            <a:ext cx="3327400" cy="276999"/>
          </a:xfrm>
          <a:prstGeom prst="rect">
            <a:avLst/>
          </a:prstGeom>
          <a:noFill/>
        </p:spPr>
        <p:txBody>
          <a:bodyPr vert="horz" wrap="square" lIns="0" tIns="0" rIns="0" bIns="0" rtlCol="0" anchor="t">
            <a:noAutofit/>
          </a:bodyPr>
          <a:lstStyle/>
          <a:p>
            <a:pPr algn="ctr"/>
            <a:r>
              <a:rPr lang="en-US" altLang="zh-CN" b="1">
                <a:solidFill>
                  <a:srgbClr val="2A1A0E"/>
                </a:solidFill>
                <a:latin typeface="Inter"/>
              </a:rPr>
              <a:t>pre-gate × live × time</a:t>
            </a:r>
            <a:endParaRPr lang="zh-CN" altLang="en-US" b="1">
              <a:solidFill>
                <a:srgbClr val="2A1A0E"/>
              </a:solidFill>
              <a:latin typeface="Inter"/>
            </a:endParaRPr>
          </a:p>
        </p:txBody>
      </p:sp>
      <p:sp>
        <p:nvSpPr>
          <p:cNvPr id="28" name="文字方塊 27">
            <a:extLst>
              <a:ext uri="{FF2B5EF4-FFF2-40B4-BE49-F238E27FC236}">
                <a16:creationId xmlns:a16="http://schemas.microsoft.com/office/drawing/2014/main" id="{DD2704AD-0837-3D77-D7F5-9CF742D7B8E6}"/>
              </a:ext>
            </a:extLst>
          </p:cNvPr>
          <p:cNvSpPr txBox="1"/>
          <p:nvPr/>
        </p:nvSpPr>
        <p:spPr>
          <a:xfrm>
            <a:off x="3378200" y="4483100"/>
            <a:ext cx="3378200" cy="276999"/>
          </a:xfrm>
          <a:prstGeom prst="rect">
            <a:avLst/>
          </a:prstGeom>
          <a:noFill/>
        </p:spPr>
        <p:txBody>
          <a:bodyPr vert="horz" wrap="square" lIns="0" tIns="0" rIns="0" bIns="0" rtlCol="0" anchor="t">
            <a:noAutofit/>
          </a:bodyPr>
          <a:lstStyle/>
          <a:p>
            <a:pPr algn="ctr"/>
            <a:r>
              <a:rPr lang="en-US" altLang="zh-CN" sz="1200">
                <a:solidFill>
                  <a:srgbClr val="545454"/>
                </a:solidFill>
                <a:latin typeface="JetBrains Mono"/>
              </a:rPr>
              <a:t>production scorer</a:t>
            </a:r>
            <a:endParaRPr lang="zh-CN" altLang="en-US" sz="1200">
              <a:solidFill>
                <a:srgbClr val="545454"/>
              </a:solidFill>
              <a:latin typeface="JetBrains Mono"/>
            </a:endParaRPr>
          </a:p>
        </p:txBody>
      </p:sp>
      <p:cxnSp>
        <p:nvCxnSpPr>
          <p:cNvPr id="29" name="直線接點 28">
            <a:extLst>
              <a:ext uri="{FF2B5EF4-FFF2-40B4-BE49-F238E27FC236}">
                <a16:creationId xmlns:a16="http://schemas.microsoft.com/office/drawing/2014/main" id="{B9068BB3-3A09-2EA7-9A8E-E70F14152E49}"/>
              </a:ext>
            </a:extLst>
          </p:cNvPr>
          <p:cNvCxnSpPr/>
          <p:nvPr/>
        </p:nvCxnSpPr>
        <p:spPr>
          <a:xfrm>
            <a:off x="6934200" y="4457700"/>
            <a:ext cx="431800" cy="0"/>
          </a:xfrm>
          <a:prstGeom prst="line">
            <a:avLst/>
          </a:prstGeom>
          <a:ln w="25400">
            <a:solidFill>
              <a:srgbClr val="2A1A0E"/>
            </a:solidFill>
            <a:tailEnd type="arrow"/>
          </a:ln>
        </p:spPr>
        <p:style>
          <a:lnRef idx="2">
            <a:schemeClr val="accent1"/>
          </a:lnRef>
          <a:fillRef idx="0">
            <a:schemeClr val="accent1"/>
          </a:fillRef>
          <a:effectRef idx="1">
            <a:schemeClr val="accent1"/>
          </a:effectRef>
          <a:fontRef idx="minor">
            <a:schemeClr val="tx1"/>
          </a:fontRef>
        </p:style>
      </p:cxnSp>
      <p:sp>
        <p:nvSpPr>
          <p:cNvPr id="30" name="矩形 29">
            <a:extLst>
              <a:ext uri="{FF2B5EF4-FFF2-40B4-BE49-F238E27FC236}">
                <a16:creationId xmlns:a16="http://schemas.microsoft.com/office/drawing/2014/main" id="{6A0EB825-5514-BAFA-8482-4C7E89BBBDE5}"/>
              </a:ext>
            </a:extLst>
          </p:cNvPr>
          <p:cNvSpPr/>
          <p:nvPr/>
        </p:nvSpPr>
        <p:spPr>
          <a:xfrm>
            <a:off x="7442200" y="3937000"/>
            <a:ext cx="1905000" cy="1041400"/>
          </a:xfrm>
          <a:prstGeom prst="rect">
            <a:avLst/>
          </a:prstGeom>
          <a:solidFill>
            <a:srgbClr val="FFFFFF"/>
          </a:solidFill>
          <a:ln w="19050">
            <a:solidFill>
              <a:srgbClr val="2A1A0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文字方塊 30">
            <a:extLst>
              <a:ext uri="{FF2B5EF4-FFF2-40B4-BE49-F238E27FC236}">
                <a16:creationId xmlns:a16="http://schemas.microsoft.com/office/drawing/2014/main" id="{A5F945F5-F7AD-3C29-A425-033647D401EB}"/>
              </a:ext>
            </a:extLst>
          </p:cNvPr>
          <p:cNvSpPr txBox="1"/>
          <p:nvPr/>
        </p:nvSpPr>
        <p:spPr>
          <a:xfrm>
            <a:off x="7569200" y="4089400"/>
            <a:ext cx="1651000" cy="276999"/>
          </a:xfrm>
          <a:prstGeom prst="rect">
            <a:avLst/>
          </a:prstGeom>
          <a:noFill/>
        </p:spPr>
        <p:txBody>
          <a:bodyPr vert="horz" wrap="square" lIns="0" tIns="0" rIns="0" bIns="0" rtlCol="0" anchor="t">
            <a:noAutofit/>
          </a:bodyPr>
          <a:lstStyle/>
          <a:p>
            <a:pPr algn="ctr"/>
            <a:r>
              <a:rPr lang="en-US" altLang="zh-CN" b="1">
                <a:solidFill>
                  <a:srgbClr val="2A1A0E"/>
                </a:solidFill>
                <a:latin typeface="Inter"/>
              </a:rPr>
              <a:t>Zero gate</a:t>
            </a:r>
            <a:endParaRPr lang="zh-CN" altLang="en-US" b="1">
              <a:solidFill>
                <a:srgbClr val="2A1A0E"/>
              </a:solidFill>
              <a:latin typeface="Inter"/>
            </a:endParaRPr>
          </a:p>
        </p:txBody>
      </p:sp>
      <p:sp>
        <p:nvSpPr>
          <p:cNvPr id="32" name="文字方塊 31">
            <a:extLst>
              <a:ext uri="{FF2B5EF4-FFF2-40B4-BE49-F238E27FC236}">
                <a16:creationId xmlns:a16="http://schemas.microsoft.com/office/drawing/2014/main" id="{F4F30B63-1BB0-3C3B-B2DA-70B7716CF482}"/>
              </a:ext>
            </a:extLst>
          </p:cNvPr>
          <p:cNvSpPr txBox="1"/>
          <p:nvPr/>
        </p:nvSpPr>
        <p:spPr>
          <a:xfrm>
            <a:off x="7543800" y="4483100"/>
            <a:ext cx="1701800" cy="276999"/>
          </a:xfrm>
          <a:prstGeom prst="rect">
            <a:avLst/>
          </a:prstGeom>
          <a:noFill/>
        </p:spPr>
        <p:txBody>
          <a:bodyPr vert="horz" wrap="square" lIns="0" tIns="0" rIns="0" bIns="0" rtlCol="0" anchor="t">
            <a:noAutofit/>
          </a:bodyPr>
          <a:lstStyle/>
          <a:p>
            <a:pPr algn="ctr"/>
            <a:r>
              <a:rPr lang="en-US" altLang="zh-CN" sz="1200">
                <a:solidFill>
                  <a:srgbClr val="545454"/>
                </a:solidFill>
                <a:latin typeface="JetBrains Mono"/>
              </a:rPr>
              <a:t>hard stop</a:t>
            </a:r>
            <a:endParaRPr lang="zh-CN" altLang="en-US" sz="1200">
              <a:solidFill>
                <a:srgbClr val="545454"/>
              </a:solidFill>
              <a:latin typeface="JetBrains Mono"/>
            </a:endParaRPr>
          </a:p>
        </p:txBody>
      </p:sp>
      <p:cxnSp>
        <p:nvCxnSpPr>
          <p:cNvPr id="33" name="直線接點 32">
            <a:extLst>
              <a:ext uri="{FF2B5EF4-FFF2-40B4-BE49-F238E27FC236}">
                <a16:creationId xmlns:a16="http://schemas.microsoft.com/office/drawing/2014/main" id="{4D4411C3-1AE0-10CD-83D7-334625EA4EA6}"/>
              </a:ext>
            </a:extLst>
          </p:cNvPr>
          <p:cNvCxnSpPr/>
          <p:nvPr/>
        </p:nvCxnSpPr>
        <p:spPr>
          <a:xfrm>
            <a:off x="9423400" y="4457700"/>
            <a:ext cx="431800" cy="0"/>
          </a:xfrm>
          <a:prstGeom prst="line">
            <a:avLst/>
          </a:prstGeom>
          <a:ln w="25400">
            <a:solidFill>
              <a:srgbClr val="C8102E"/>
            </a:solidFill>
            <a:tailEnd type="arrow"/>
          </a:ln>
        </p:spPr>
        <p:style>
          <a:lnRef idx="2">
            <a:schemeClr val="accent1"/>
          </a:lnRef>
          <a:fillRef idx="0">
            <a:schemeClr val="accent1"/>
          </a:fillRef>
          <a:effectRef idx="1">
            <a:schemeClr val="accent1"/>
          </a:effectRef>
          <a:fontRef idx="minor">
            <a:schemeClr val="tx1"/>
          </a:fontRef>
        </p:style>
      </p:cxnSp>
      <p:sp>
        <p:nvSpPr>
          <p:cNvPr id="34" name="矩形 33">
            <a:extLst>
              <a:ext uri="{FF2B5EF4-FFF2-40B4-BE49-F238E27FC236}">
                <a16:creationId xmlns:a16="http://schemas.microsoft.com/office/drawing/2014/main" id="{53BA77E7-44E9-1163-5256-916D01A4DEF5}"/>
              </a:ext>
            </a:extLst>
          </p:cNvPr>
          <p:cNvSpPr/>
          <p:nvPr/>
        </p:nvSpPr>
        <p:spPr>
          <a:xfrm>
            <a:off x="9931400" y="3937000"/>
            <a:ext cx="1727200" cy="1041400"/>
          </a:xfrm>
          <a:prstGeom prst="rect">
            <a:avLst/>
          </a:prstGeom>
          <a:solidFill>
            <a:srgbClr val="FFFFFF"/>
          </a:solidFill>
          <a:ln w="19050">
            <a:solidFill>
              <a:srgbClr val="C8102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文字方塊 34">
            <a:extLst>
              <a:ext uri="{FF2B5EF4-FFF2-40B4-BE49-F238E27FC236}">
                <a16:creationId xmlns:a16="http://schemas.microsoft.com/office/drawing/2014/main" id="{5ADEFFC6-9954-8E59-A0E3-C5E7E6F2A448}"/>
              </a:ext>
            </a:extLst>
          </p:cNvPr>
          <p:cNvSpPr txBox="1"/>
          <p:nvPr/>
        </p:nvSpPr>
        <p:spPr>
          <a:xfrm>
            <a:off x="10058400" y="4089400"/>
            <a:ext cx="1473200" cy="276999"/>
          </a:xfrm>
          <a:prstGeom prst="rect">
            <a:avLst/>
          </a:prstGeom>
          <a:noFill/>
        </p:spPr>
        <p:txBody>
          <a:bodyPr vert="horz" wrap="square" lIns="0" tIns="0" rIns="0" bIns="0" rtlCol="0" anchor="t">
            <a:noAutofit/>
          </a:bodyPr>
          <a:lstStyle/>
          <a:p>
            <a:pPr algn="ctr"/>
            <a:r>
              <a:rPr lang="en-US" altLang="zh-CN" b="1">
                <a:solidFill>
                  <a:srgbClr val="2A1A0E"/>
                </a:solidFill>
                <a:latin typeface="Inter"/>
              </a:rPr>
              <a:t>0 / Skip</a:t>
            </a:r>
            <a:endParaRPr lang="zh-CN" altLang="en-US" b="1">
              <a:solidFill>
                <a:srgbClr val="2A1A0E"/>
              </a:solidFill>
              <a:latin typeface="Inter"/>
            </a:endParaRPr>
          </a:p>
        </p:txBody>
      </p:sp>
      <p:sp>
        <p:nvSpPr>
          <p:cNvPr id="36" name="文字方塊 35">
            <a:extLst>
              <a:ext uri="{FF2B5EF4-FFF2-40B4-BE49-F238E27FC236}">
                <a16:creationId xmlns:a16="http://schemas.microsoft.com/office/drawing/2014/main" id="{041DB9A2-794E-8544-6109-80BB78874EC9}"/>
              </a:ext>
            </a:extLst>
          </p:cNvPr>
          <p:cNvSpPr txBox="1"/>
          <p:nvPr/>
        </p:nvSpPr>
        <p:spPr>
          <a:xfrm>
            <a:off x="10033000" y="4483100"/>
            <a:ext cx="1524000" cy="276999"/>
          </a:xfrm>
          <a:prstGeom prst="rect">
            <a:avLst/>
          </a:prstGeom>
          <a:noFill/>
        </p:spPr>
        <p:txBody>
          <a:bodyPr vert="horz" wrap="square" lIns="0" tIns="0" rIns="0" bIns="0" rtlCol="0" anchor="t">
            <a:noAutofit/>
          </a:bodyPr>
          <a:lstStyle/>
          <a:p>
            <a:pPr algn="ctr"/>
            <a:r>
              <a:rPr lang="en-US" altLang="zh-CN" sz="1200">
                <a:solidFill>
                  <a:srgbClr val="545454"/>
                </a:solidFill>
                <a:latin typeface="JetBrains Mono"/>
              </a:rPr>
              <a:t>required result</a:t>
            </a:r>
            <a:endParaRPr lang="zh-CN" altLang="en-US" sz="1200">
              <a:solidFill>
                <a:srgbClr val="545454"/>
              </a:solidFill>
              <a:latin typeface="JetBrains Mono"/>
            </a:endParaRPr>
          </a:p>
        </p:txBody>
      </p:sp>
      <p:sp>
        <p:nvSpPr>
          <p:cNvPr id="37" name="矩形 36">
            <a:extLst>
              <a:ext uri="{FF2B5EF4-FFF2-40B4-BE49-F238E27FC236}">
                <a16:creationId xmlns:a16="http://schemas.microsoft.com/office/drawing/2014/main" id="{5D2AE0DC-35FF-D160-3A89-1DAC52D8A10A}"/>
              </a:ext>
            </a:extLst>
          </p:cNvPr>
          <p:cNvSpPr/>
          <p:nvPr/>
        </p:nvSpPr>
        <p:spPr>
          <a:xfrm>
            <a:off x="3276600" y="5334000"/>
            <a:ext cx="6045200" cy="635000"/>
          </a:xfrm>
          <a:prstGeom prst="rect">
            <a:avLst/>
          </a:prstGeom>
          <a:solidFill>
            <a:srgbClr val="FFFFFF"/>
          </a:solidFill>
          <a:ln w="12700">
            <a:solidFill>
              <a:srgbClr val="D4D4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8" name="直線接點 37">
            <a:extLst>
              <a:ext uri="{FF2B5EF4-FFF2-40B4-BE49-F238E27FC236}">
                <a16:creationId xmlns:a16="http://schemas.microsoft.com/office/drawing/2014/main" id="{A6D17E4E-96F6-6ADB-F860-AFFDFAB392BC}"/>
              </a:ext>
            </a:extLst>
          </p:cNvPr>
          <p:cNvCxnSpPr/>
          <p:nvPr/>
        </p:nvCxnSpPr>
        <p:spPr>
          <a:xfrm>
            <a:off x="3276600" y="5334000"/>
            <a:ext cx="0" cy="635000"/>
          </a:xfrm>
          <a:prstGeom prst="line">
            <a:avLst/>
          </a:prstGeom>
          <a:ln w="38100">
            <a:solidFill>
              <a:srgbClr val="C8860E"/>
            </a:solidFill>
          </a:ln>
        </p:spPr>
        <p:style>
          <a:lnRef idx="2">
            <a:schemeClr val="accent1"/>
          </a:lnRef>
          <a:fillRef idx="0">
            <a:schemeClr val="accent1"/>
          </a:fillRef>
          <a:effectRef idx="1">
            <a:schemeClr val="accent1"/>
          </a:effectRef>
          <a:fontRef idx="minor">
            <a:schemeClr val="tx1"/>
          </a:fontRef>
        </p:style>
      </p:cxnSp>
      <p:sp>
        <p:nvSpPr>
          <p:cNvPr id="39" name="文字方塊 38">
            <a:extLst>
              <a:ext uri="{FF2B5EF4-FFF2-40B4-BE49-F238E27FC236}">
                <a16:creationId xmlns:a16="http://schemas.microsoft.com/office/drawing/2014/main" id="{B84A97A9-4E6E-E579-9A0F-83A2CBB1B877}"/>
              </a:ext>
            </a:extLst>
          </p:cNvPr>
          <p:cNvSpPr txBox="1"/>
          <p:nvPr/>
        </p:nvSpPr>
        <p:spPr>
          <a:xfrm>
            <a:off x="3479800" y="5486400"/>
            <a:ext cx="5613400" cy="276999"/>
          </a:xfrm>
          <a:prstGeom prst="rect">
            <a:avLst/>
          </a:prstGeom>
          <a:noFill/>
        </p:spPr>
        <p:txBody>
          <a:bodyPr vert="horz" wrap="square" lIns="0" tIns="0" rIns="0" bIns="0" rtlCol="0" anchor="t">
            <a:noAutofit/>
          </a:bodyPr>
          <a:lstStyle/>
          <a:p>
            <a:pPr algn="ctr"/>
            <a:r>
              <a:rPr lang="en-US" altLang="zh-CN" sz="1600" b="1">
                <a:solidFill>
                  <a:srgbClr val="2A1A0E"/>
                </a:solidFill>
                <a:latin typeface="Inter"/>
              </a:rPr>
              <a:t>Deliberately wrong gate-as-vote formula → caught</a:t>
            </a:r>
            <a:endParaRPr lang="zh-CN" altLang="en-US" sz="1600" b="1">
              <a:solidFill>
                <a:srgbClr val="2A1A0E"/>
              </a:solidFill>
              <a:latin typeface="Inter"/>
            </a:endParaRPr>
          </a:p>
        </p:txBody>
      </p:sp>
    </p:spTree>
    <p:extLst>
      <p:ext uri="{BB962C8B-B14F-4D97-AF65-F5344CB8AC3E}">
        <p14:creationId xmlns:p14="http://schemas.microsoft.com/office/powerpoint/2010/main" val="13548610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文字方塊 1">
            <a:extLst>
              <a:ext uri="{FF2B5EF4-FFF2-40B4-BE49-F238E27FC236}">
                <a16:creationId xmlns:a16="http://schemas.microsoft.com/office/drawing/2014/main" id="{70576CE5-7786-98D5-A769-4905D0822116}"/>
              </a:ext>
            </a:extLst>
          </p:cNvPr>
          <p:cNvSpPr txBox="1"/>
          <p:nvPr/>
        </p:nvSpPr>
        <p:spPr>
          <a:xfrm>
            <a:off x="533400" y="304800"/>
            <a:ext cx="4572000" cy="276999"/>
          </a:xfrm>
          <a:prstGeom prst="rect">
            <a:avLst/>
          </a:prstGeom>
          <a:noFill/>
        </p:spPr>
        <p:txBody>
          <a:bodyPr vert="horz" wrap="square" lIns="0" tIns="0" rIns="0" bIns="0" rtlCol="0" anchor="t">
            <a:noAutofit/>
          </a:bodyPr>
          <a:lstStyle/>
          <a:p>
            <a:r>
              <a:rPr lang="en-US" altLang="zh-CN" sz="1200" b="1">
                <a:solidFill>
                  <a:srgbClr val="545454"/>
                </a:solidFill>
                <a:latin typeface="Inter"/>
              </a:rPr>
              <a:t>HONEST BOUNDARY</a:t>
            </a:r>
            <a:endParaRPr lang="zh-CN" altLang="en-US" sz="1200" b="1">
              <a:solidFill>
                <a:srgbClr val="545454"/>
              </a:solidFill>
              <a:latin typeface="Inter"/>
            </a:endParaRPr>
          </a:p>
        </p:txBody>
      </p:sp>
      <p:sp>
        <p:nvSpPr>
          <p:cNvPr id="3" name="文字方塊 2">
            <a:extLst>
              <a:ext uri="{FF2B5EF4-FFF2-40B4-BE49-F238E27FC236}">
                <a16:creationId xmlns:a16="http://schemas.microsoft.com/office/drawing/2014/main" id="{AD105C2A-A4F1-2C5A-1E88-51A601E002D1}"/>
              </a:ext>
            </a:extLst>
          </p:cNvPr>
          <p:cNvSpPr txBox="1"/>
          <p:nvPr/>
        </p:nvSpPr>
        <p:spPr>
          <a:xfrm>
            <a:off x="10998200" y="6413500"/>
            <a:ext cx="660400" cy="276999"/>
          </a:xfrm>
          <a:prstGeom prst="rect">
            <a:avLst/>
          </a:prstGeom>
          <a:noFill/>
        </p:spPr>
        <p:txBody>
          <a:bodyPr vert="horz" wrap="square" lIns="0" tIns="0" rIns="0" bIns="0" rtlCol="0" anchor="t">
            <a:noAutofit/>
          </a:bodyPr>
          <a:lstStyle/>
          <a:p>
            <a:pPr algn="r"/>
            <a:r>
              <a:rPr lang="en-US" altLang="zh-CN" sz="1100">
                <a:solidFill>
                  <a:srgbClr val="545454"/>
                </a:solidFill>
                <a:latin typeface="JetBrains Mono"/>
              </a:rPr>
              <a:t>03</a:t>
            </a:r>
            <a:endParaRPr lang="zh-CN" altLang="en-US" sz="1100">
              <a:solidFill>
                <a:srgbClr val="545454"/>
              </a:solidFill>
              <a:latin typeface="JetBrains Mono"/>
            </a:endParaRPr>
          </a:p>
        </p:txBody>
      </p:sp>
      <p:cxnSp>
        <p:nvCxnSpPr>
          <p:cNvPr id="4" name="直線接點 3">
            <a:extLst>
              <a:ext uri="{FF2B5EF4-FFF2-40B4-BE49-F238E27FC236}">
                <a16:creationId xmlns:a16="http://schemas.microsoft.com/office/drawing/2014/main" id="{AE2092AA-5C2E-3F4C-B83E-08FE6A0895E8}"/>
              </a:ext>
            </a:extLst>
          </p:cNvPr>
          <p:cNvCxnSpPr/>
          <p:nvPr/>
        </p:nvCxnSpPr>
        <p:spPr>
          <a:xfrm>
            <a:off x="533400" y="6299200"/>
            <a:ext cx="11125200" cy="0"/>
          </a:xfrm>
          <a:prstGeom prst="line">
            <a:avLst/>
          </a:prstGeom>
          <a:ln w="9525">
            <a:solidFill>
              <a:srgbClr val="D4D4D4"/>
            </a:solidFill>
          </a:ln>
        </p:spPr>
        <p:style>
          <a:lnRef idx="2">
            <a:schemeClr val="accent1"/>
          </a:lnRef>
          <a:fillRef idx="0">
            <a:schemeClr val="accent1"/>
          </a:fillRef>
          <a:effectRef idx="1">
            <a:schemeClr val="accent1"/>
          </a:effectRef>
          <a:fontRef idx="minor">
            <a:schemeClr val="tx1"/>
          </a:fontRef>
        </p:style>
      </p:cxnSp>
      <p:sp>
        <p:nvSpPr>
          <p:cNvPr id="5" name="文字方塊 4">
            <a:extLst>
              <a:ext uri="{FF2B5EF4-FFF2-40B4-BE49-F238E27FC236}">
                <a16:creationId xmlns:a16="http://schemas.microsoft.com/office/drawing/2014/main" id="{AD7AAF5E-4467-98F1-55F2-3EC3C7433797}"/>
              </a:ext>
            </a:extLst>
          </p:cNvPr>
          <p:cNvSpPr txBox="1"/>
          <p:nvPr/>
        </p:nvSpPr>
        <p:spPr>
          <a:xfrm>
            <a:off x="533400" y="723900"/>
            <a:ext cx="11049000" cy="276999"/>
          </a:xfrm>
          <a:prstGeom prst="rect">
            <a:avLst/>
          </a:prstGeom>
          <a:noFill/>
        </p:spPr>
        <p:txBody>
          <a:bodyPr vert="horz" wrap="square" lIns="0" tIns="0" rIns="0" bIns="0" rtlCol="0" anchor="t">
            <a:noAutofit/>
          </a:bodyPr>
          <a:lstStyle/>
          <a:p>
            <a:r>
              <a:rPr lang="en-US" altLang="zh-CN" sz="3800">
                <a:solidFill>
                  <a:srgbClr val="2A1A0E"/>
                </a:solidFill>
                <a:latin typeface="EB Garamond" panose="00000500000000000000" pitchFamily="2" charset="0"/>
              </a:rPr>
              <a:t>Evidence stops where real-world data stops</a:t>
            </a:r>
            <a:endParaRPr lang="zh-CN" altLang="en-US" sz="3800">
              <a:solidFill>
                <a:srgbClr val="2A1A0E"/>
              </a:solidFill>
              <a:latin typeface="EB Garamond" panose="00000500000000000000" pitchFamily="2" charset="0"/>
            </a:endParaRPr>
          </a:p>
        </p:txBody>
      </p:sp>
      <p:sp>
        <p:nvSpPr>
          <p:cNvPr id="6" name="矩形 5">
            <a:extLst>
              <a:ext uri="{FF2B5EF4-FFF2-40B4-BE49-F238E27FC236}">
                <a16:creationId xmlns:a16="http://schemas.microsoft.com/office/drawing/2014/main" id="{80FE0250-1E50-D2E2-1362-BCCF9BFF9AF4}"/>
              </a:ext>
            </a:extLst>
          </p:cNvPr>
          <p:cNvSpPr/>
          <p:nvPr/>
        </p:nvSpPr>
        <p:spPr>
          <a:xfrm>
            <a:off x="533400" y="1778000"/>
            <a:ext cx="5334000" cy="2946400"/>
          </a:xfrm>
          <a:prstGeom prst="rect">
            <a:avLst/>
          </a:prstGeom>
          <a:solidFill>
            <a:srgbClr val="FFFFFF"/>
          </a:solidFill>
          <a:ln w="19050">
            <a:solidFill>
              <a:srgbClr val="2A1A0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字方塊 6">
            <a:extLst>
              <a:ext uri="{FF2B5EF4-FFF2-40B4-BE49-F238E27FC236}">
                <a16:creationId xmlns:a16="http://schemas.microsoft.com/office/drawing/2014/main" id="{DE6B1F6C-FA1E-AF78-8361-80D400759180}"/>
              </a:ext>
            </a:extLst>
          </p:cNvPr>
          <p:cNvSpPr txBox="1"/>
          <p:nvPr/>
        </p:nvSpPr>
        <p:spPr>
          <a:xfrm>
            <a:off x="787400" y="2006600"/>
            <a:ext cx="2794000" cy="276999"/>
          </a:xfrm>
          <a:prstGeom prst="rect">
            <a:avLst/>
          </a:prstGeom>
          <a:noFill/>
        </p:spPr>
        <p:txBody>
          <a:bodyPr vert="horz" wrap="square" lIns="0" tIns="0" rIns="0" bIns="0" rtlCol="0" anchor="t">
            <a:noAutofit/>
          </a:bodyPr>
          <a:lstStyle/>
          <a:p>
            <a:r>
              <a:rPr lang="en-US" altLang="zh-CN" sz="1300" b="1">
                <a:solidFill>
                  <a:srgbClr val="C8102E"/>
                </a:solidFill>
                <a:latin typeface="Inter"/>
              </a:rPr>
              <a:t>VERIFIED BY CODE</a:t>
            </a:r>
            <a:endParaRPr lang="zh-CN" altLang="en-US" sz="1300" b="1">
              <a:solidFill>
                <a:srgbClr val="C8102E"/>
              </a:solidFill>
              <a:latin typeface="Inter"/>
            </a:endParaRPr>
          </a:p>
        </p:txBody>
      </p:sp>
      <p:sp>
        <p:nvSpPr>
          <p:cNvPr id="8" name="文字方塊 7">
            <a:extLst>
              <a:ext uri="{FF2B5EF4-FFF2-40B4-BE49-F238E27FC236}">
                <a16:creationId xmlns:a16="http://schemas.microsoft.com/office/drawing/2014/main" id="{8F652757-9A55-F647-4AB5-DBB7BED32FBD}"/>
              </a:ext>
            </a:extLst>
          </p:cNvPr>
          <p:cNvSpPr txBox="1"/>
          <p:nvPr/>
        </p:nvSpPr>
        <p:spPr>
          <a:xfrm>
            <a:off x="787400" y="2514600"/>
            <a:ext cx="4572000" cy="276999"/>
          </a:xfrm>
          <a:prstGeom prst="rect">
            <a:avLst/>
          </a:prstGeom>
          <a:noFill/>
        </p:spPr>
        <p:txBody>
          <a:bodyPr vert="horz" wrap="square" lIns="0" tIns="0" rIns="0" bIns="0" rtlCol="0" anchor="t">
            <a:noAutofit/>
          </a:bodyPr>
          <a:lstStyle/>
          <a:p>
            <a:r>
              <a:rPr lang="en-US" altLang="zh-CN" sz="1900">
                <a:solidFill>
                  <a:srgbClr val="2A1A0E"/>
                </a:solidFill>
                <a:latin typeface="Inter"/>
              </a:rPr>
              <a:t>PDF parser mechanics
Declared field and order checks
Zero-gate arithmetic
Named mutation witnesses</a:t>
            </a:r>
            <a:endParaRPr lang="zh-CN" altLang="en-US" sz="1900">
              <a:solidFill>
                <a:srgbClr val="2A1A0E"/>
              </a:solidFill>
              <a:latin typeface="Inter"/>
            </a:endParaRPr>
          </a:p>
        </p:txBody>
      </p:sp>
      <p:sp>
        <p:nvSpPr>
          <p:cNvPr id="9" name="矩形 8">
            <a:extLst>
              <a:ext uri="{FF2B5EF4-FFF2-40B4-BE49-F238E27FC236}">
                <a16:creationId xmlns:a16="http://schemas.microsoft.com/office/drawing/2014/main" id="{64DF9194-929B-FB15-3435-732C5FBDC671}"/>
              </a:ext>
            </a:extLst>
          </p:cNvPr>
          <p:cNvSpPr/>
          <p:nvPr/>
        </p:nvSpPr>
        <p:spPr>
          <a:xfrm>
            <a:off x="6324600" y="1778000"/>
            <a:ext cx="5334000" cy="2946400"/>
          </a:xfrm>
          <a:prstGeom prst="rect">
            <a:avLst/>
          </a:prstGeom>
          <a:solidFill>
            <a:srgbClr val="FFFFFF"/>
          </a:solidFill>
          <a:ln w="19050">
            <a:solidFill>
              <a:srgbClr val="D4D4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字方塊 9">
            <a:extLst>
              <a:ext uri="{FF2B5EF4-FFF2-40B4-BE49-F238E27FC236}">
                <a16:creationId xmlns:a16="http://schemas.microsoft.com/office/drawing/2014/main" id="{CBD532C0-4E36-48BF-9CDA-3466658742F1}"/>
              </a:ext>
            </a:extLst>
          </p:cNvPr>
          <p:cNvSpPr txBox="1"/>
          <p:nvPr/>
        </p:nvSpPr>
        <p:spPr>
          <a:xfrm>
            <a:off x="6578600" y="2006600"/>
            <a:ext cx="3302000" cy="276999"/>
          </a:xfrm>
          <a:prstGeom prst="rect">
            <a:avLst/>
          </a:prstGeom>
          <a:noFill/>
        </p:spPr>
        <p:txBody>
          <a:bodyPr vert="horz" wrap="square" lIns="0" tIns="0" rIns="0" bIns="0" rtlCol="0" anchor="t">
            <a:noAutofit/>
          </a:bodyPr>
          <a:lstStyle/>
          <a:p>
            <a:r>
              <a:rPr lang="en-US" altLang="zh-CN" sz="1300" b="1">
                <a:solidFill>
                  <a:srgbClr val="545454"/>
                </a:solidFill>
                <a:latin typeface="Inter"/>
              </a:rPr>
              <a:t>NOT IMPLEMENTED</a:t>
            </a:r>
            <a:endParaRPr lang="zh-CN" altLang="en-US" sz="1300" b="1">
              <a:solidFill>
                <a:srgbClr val="545454"/>
              </a:solidFill>
              <a:latin typeface="Inter"/>
            </a:endParaRPr>
          </a:p>
        </p:txBody>
      </p:sp>
      <p:sp>
        <p:nvSpPr>
          <p:cNvPr id="11" name="文字方塊 10">
            <a:extLst>
              <a:ext uri="{FF2B5EF4-FFF2-40B4-BE49-F238E27FC236}">
                <a16:creationId xmlns:a16="http://schemas.microsoft.com/office/drawing/2014/main" id="{0F2CF166-DAEA-B1B9-3424-713AFF5AA89D}"/>
              </a:ext>
            </a:extLst>
          </p:cNvPr>
          <p:cNvSpPr txBox="1"/>
          <p:nvPr/>
        </p:nvSpPr>
        <p:spPr>
          <a:xfrm>
            <a:off x="6578600" y="2514600"/>
            <a:ext cx="4572000" cy="276999"/>
          </a:xfrm>
          <a:prstGeom prst="rect">
            <a:avLst/>
          </a:prstGeom>
          <a:noFill/>
        </p:spPr>
        <p:txBody>
          <a:bodyPr vert="horz" wrap="square" lIns="0" tIns="0" rIns="0" bIns="0" rtlCol="0" anchor="t">
            <a:noAutofit/>
          </a:bodyPr>
          <a:lstStyle/>
          <a:p>
            <a:r>
              <a:rPr lang="en-US" altLang="zh-CN" sz="1900">
                <a:solidFill>
                  <a:srgbClr val="545454"/>
                </a:solidFill>
                <a:latin typeface="Inter"/>
              </a:rPr>
              <a:t>Every commercial ATS
Current posting liveness
Personal legal timeline
Final application decision</a:t>
            </a:r>
            <a:endParaRPr lang="zh-CN" altLang="en-US" sz="1900">
              <a:solidFill>
                <a:srgbClr val="545454"/>
              </a:solidFill>
              <a:latin typeface="Inter"/>
            </a:endParaRPr>
          </a:p>
        </p:txBody>
      </p:sp>
      <p:sp>
        <p:nvSpPr>
          <p:cNvPr id="12" name="文字方塊 11">
            <a:extLst>
              <a:ext uri="{FF2B5EF4-FFF2-40B4-BE49-F238E27FC236}">
                <a16:creationId xmlns:a16="http://schemas.microsoft.com/office/drawing/2014/main" id="{C223C1B3-8079-5CAB-D998-CB3DB70B0ABE}"/>
              </a:ext>
            </a:extLst>
          </p:cNvPr>
          <p:cNvSpPr txBox="1"/>
          <p:nvPr/>
        </p:nvSpPr>
        <p:spPr>
          <a:xfrm>
            <a:off x="533400" y="5041900"/>
            <a:ext cx="1905000" cy="276999"/>
          </a:xfrm>
          <a:prstGeom prst="rect">
            <a:avLst/>
          </a:prstGeom>
          <a:noFill/>
        </p:spPr>
        <p:txBody>
          <a:bodyPr vert="horz" wrap="square" lIns="0" tIns="0" rIns="0" bIns="0" rtlCol="0" anchor="t">
            <a:noAutofit/>
          </a:bodyPr>
          <a:lstStyle/>
          <a:p>
            <a:r>
              <a:rPr lang="en-US" altLang="zh-CN" sz="3400" b="1">
                <a:solidFill>
                  <a:srgbClr val="C8102E"/>
                </a:solidFill>
                <a:latin typeface="JetBrains Mono"/>
              </a:rPr>
              <a:t>2 / 2</a:t>
            </a:r>
            <a:endParaRPr lang="zh-CN" altLang="en-US" sz="3400" b="1">
              <a:solidFill>
                <a:srgbClr val="C8102E"/>
              </a:solidFill>
              <a:latin typeface="JetBrains Mono"/>
            </a:endParaRPr>
          </a:p>
        </p:txBody>
      </p:sp>
      <p:sp>
        <p:nvSpPr>
          <p:cNvPr id="13" name="文字方塊 12">
            <a:extLst>
              <a:ext uri="{FF2B5EF4-FFF2-40B4-BE49-F238E27FC236}">
                <a16:creationId xmlns:a16="http://schemas.microsoft.com/office/drawing/2014/main" id="{D18BB245-2272-A379-1DB0-D1A91EBA0F4F}"/>
              </a:ext>
            </a:extLst>
          </p:cNvPr>
          <p:cNvSpPr txBox="1"/>
          <p:nvPr/>
        </p:nvSpPr>
        <p:spPr>
          <a:xfrm>
            <a:off x="2387600" y="5092700"/>
            <a:ext cx="3556000" cy="276999"/>
          </a:xfrm>
          <a:prstGeom prst="rect">
            <a:avLst/>
          </a:prstGeom>
          <a:noFill/>
        </p:spPr>
        <p:txBody>
          <a:bodyPr vert="horz" wrap="square" lIns="0" tIns="0" rIns="0" bIns="0" rtlCol="0" anchor="t">
            <a:noAutofit/>
          </a:bodyPr>
          <a:lstStyle/>
          <a:p>
            <a:r>
              <a:rPr lang="en-US" altLang="zh-CN" sz="1600">
                <a:solidFill>
                  <a:srgbClr val="2A1A0E"/>
                </a:solidFill>
                <a:latin typeface="Inter"/>
              </a:rPr>
              <a:t>controlled gate-as-vote
witnesses caught</a:t>
            </a:r>
            <a:endParaRPr lang="zh-CN" altLang="en-US" sz="1600">
              <a:solidFill>
                <a:srgbClr val="2A1A0E"/>
              </a:solidFill>
              <a:latin typeface="Inter"/>
            </a:endParaRPr>
          </a:p>
        </p:txBody>
      </p:sp>
      <p:sp>
        <p:nvSpPr>
          <p:cNvPr id="14" name="矩形 13">
            <a:extLst>
              <a:ext uri="{FF2B5EF4-FFF2-40B4-BE49-F238E27FC236}">
                <a16:creationId xmlns:a16="http://schemas.microsoft.com/office/drawing/2014/main" id="{77FD5411-014E-CC08-07BA-048CA988AE34}"/>
              </a:ext>
            </a:extLst>
          </p:cNvPr>
          <p:cNvSpPr/>
          <p:nvPr/>
        </p:nvSpPr>
        <p:spPr>
          <a:xfrm>
            <a:off x="6324600" y="5041900"/>
            <a:ext cx="5334000" cy="762000"/>
          </a:xfrm>
          <a:prstGeom prst="rect">
            <a:avLst/>
          </a:prstGeom>
          <a:solidFill>
            <a:srgbClr val="FFFFFF"/>
          </a:solidFill>
          <a:ln w="12700">
            <a:solidFill>
              <a:srgbClr val="D4D4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5" name="直線接點 14">
            <a:extLst>
              <a:ext uri="{FF2B5EF4-FFF2-40B4-BE49-F238E27FC236}">
                <a16:creationId xmlns:a16="http://schemas.microsoft.com/office/drawing/2014/main" id="{93CB8111-65F5-0E7C-00DB-703EA156EBB8}"/>
              </a:ext>
            </a:extLst>
          </p:cNvPr>
          <p:cNvCxnSpPr/>
          <p:nvPr/>
        </p:nvCxnSpPr>
        <p:spPr>
          <a:xfrm>
            <a:off x="6324600" y="5041900"/>
            <a:ext cx="0" cy="762000"/>
          </a:xfrm>
          <a:prstGeom prst="line">
            <a:avLst/>
          </a:prstGeom>
          <a:ln w="38100">
            <a:solidFill>
              <a:srgbClr val="C8860E"/>
            </a:solidFill>
          </a:ln>
        </p:spPr>
        <p:style>
          <a:lnRef idx="2">
            <a:schemeClr val="accent1"/>
          </a:lnRef>
          <a:fillRef idx="0">
            <a:schemeClr val="accent1"/>
          </a:fillRef>
          <a:effectRef idx="1">
            <a:schemeClr val="accent1"/>
          </a:effectRef>
          <a:fontRef idx="minor">
            <a:schemeClr val="tx1"/>
          </a:fontRef>
        </p:style>
      </p:cxnSp>
      <p:sp>
        <p:nvSpPr>
          <p:cNvPr id="16" name="文字方塊 15">
            <a:extLst>
              <a:ext uri="{FF2B5EF4-FFF2-40B4-BE49-F238E27FC236}">
                <a16:creationId xmlns:a16="http://schemas.microsoft.com/office/drawing/2014/main" id="{0BE4672C-C37F-FEB8-2982-70192CE5097B}"/>
              </a:ext>
            </a:extLst>
          </p:cNvPr>
          <p:cNvSpPr txBox="1"/>
          <p:nvPr/>
        </p:nvSpPr>
        <p:spPr>
          <a:xfrm>
            <a:off x="6578600" y="5181600"/>
            <a:ext cx="4775200" cy="276999"/>
          </a:xfrm>
          <a:prstGeom prst="rect">
            <a:avLst/>
          </a:prstGeom>
          <a:noFill/>
        </p:spPr>
        <p:txBody>
          <a:bodyPr vert="horz" wrap="square" lIns="0" tIns="0" rIns="0" bIns="0" rtlCol="0" anchor="t">
            <a:noAutofit/>
          </a:bodyPr>
          <a:lstStyle/>
          <a:p>
            <a:r>
              <a:rPr lang="en-US" altLang="zh-CN" sz="2200">
                <a:solidFill>
                  <a:srgbClr val="2A1A0E"/>
                </a:solidFill>
                <a:latin typeface="EB Garamond" panose="00000500000000000000" pitchFamily="2" charset="0"/>
              </a:rPr>
              <a:t>A gate needs an executable failure path.</a:t>
            </a:r>
            <a:endParaRPr lang="zh-CN" altLang="en-US" sz="2200">
              <a:solidFill>
                <a:srgbClr val="2A1A0E"/>
              </a:solidFill>
              <a:latin typeface="EB Garamond" panose="00000500000000000000" pitchFamily="2" charset="0"/>
            </a:endParaRPr>
          </a:p>
        </p:txBody>
      </p:sp>
      <p:sp>
        <p:nvSpPr>
          <p:cNvPr id="17" name="文字方塊 16">
            <a:extLst>
              <a:ext uri="{FF2B5EF4-FFF2-40B4-BE49-F238E27FC236}">
                <a16:creationId xmlns:a16="http://schemas.microsoft.com/office/drawing/2014/main" id="{D5981E2A-7607-D412-4B33-292A905CF818}"/>
              </a:ext>
            </a:extLst>
          </p:cNvPr>
          <p:cNvSpPr txBox="1"/>
          <p:nvPr/>
        </p:nvSpPr>
        <p:spPr>
          <a:xfrm>
            <a:off x="533400" y="5943600"/>
            <a:ext cx="9652000" cy="276999"/>
          </a:xfrm>
          <a:prstGeom prst="rect">
            <a:avLst/>
          </a:prstGeom>
          <a:noFill/>
        </p:spPr>
        <p:txBody>
          <a:bodyPr vert="horz" wrap="square" lIns="0" tIns="0" rIns="0" bIns="0" rtlCol="0" anchor="t">
            <a:noAutofit/>
          </a:bodyPr>
          <a:lstStyle/>
          <a:p>
            <a:r>
              <a:rPr lang="en-US" altLang="zh-CN" sz="1200">
                <a:solidFill>
                  <a:srgbClr val="545454"/>
                </a:solidFill>
                <a:latin typeface="Inter"/>
              </a:rPr>
              <a:t>Controlled software evidence · not a live-job score</a:t>
            </a:r>
            <a:endParaRPr lang="zh-CN" altLang="en-US" sz="1200">
              <a:solidFill>
                <a:srgbClr val="545454"/>
              </a:solidFill>
              <a:latin typeface="Inter"/>
            </a:endParaRPr>
          </a:p>
        </p:txBody>
      </p:sp>
    </p:spTree>
    <p:extLst>
      <p:ext uri="{BB962C8B-B14F-4D97-AF65-F5344CB8AC3E}">
        <p14:creationId xmlns:p14="http://schemas.microsoft.com/office/powerpoint/2010/main" val="1920471138"/>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416</Words>
  <Application>Microsoft Office PowerPoint</Application>
  <PresentationFormat>自訂</PresentationFormat>
  <Paragraphs>42</Paragraphs>
  <Slides>3</Slides>
  <Notes>3</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3</vt:i4>
      </vt:variant>
    </vt:vector>
  </HeadingPairs>
  <TitlesOfParts>
    <vt:vector size="10" baseType="lpstr">
      <vt:lpstr>等线</vt:lpstr>
      <vt:lpstr>等线 Light</vt:lpstr>
      <vt:lpstr>Inter</vt:lpstr>
      <vt:lpstr>JetBrains Mono</vt:lpstr>
      <vt:lpstr>Arial</vt:lpstr>
      <vt:lpstr>EB Garamond</vt:lpstr>
      <vt:lpstr>Office 佈景主題</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Zening Teng</dc:creator>
  <cp:lastModifiedBy>Zening Teng</cp:lastModifiedBy>
  <cp:revision>1</cp:revision>
  <dcterms:created xsi:type="dcterms:W3CDTF">2026-08-16T22:08:59Z</dcterms:created>
  <dcterms:modified xsi:type="dcterms:W3CDTF">2026-08-16T22:09:00Z</dcterms:modified>
</cp:coreProperties>
</file>